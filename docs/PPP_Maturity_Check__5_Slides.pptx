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502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7132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Project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"/>
            <a:ext cx="10698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i="1">
                <a:solidFill>
                  <a:srgbClr val="D0E4F7"/>
                </a:solidFill>
                <a:latin typeface="Aptos"/>
              </a:rPr>
              <a:t>PPP Maturity Check: decision support for maturity assessment of PPP procurement documents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274320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25296"/>
            <a:ext cx="2743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24688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Modules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246888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50" b="0" i="1">
                <a:solidFill>
                  <a:srgbClr val="D0E4F7"/>
                </a:solidFill>
                <a:latin typeface="Aptos"/>
              </a:rPr>
              <a:t>ingestion to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70432"/>
            <a:ext cx="27432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25296"/>
            <a:ext cx="2743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ptos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755648"/>
            <a:ext cx="24688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84248"/>
            <a:ext cx="246888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50" b="0" i="1">
                <a:solidFill>
                  <a:srgbClr val="D0E4F7"/>
                </a:solidFill>
                <a:latin typeface="Aptos"/>
              </a:rPr>
              <a:t>reported in project deck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70432"/>
            <a:ext cx="27432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225296"/>
            <a:ext cx="2743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ptos"/>
              </a:rPr>
              <a:t>1/46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4688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IPMP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84248"/>
            <a:ext cx="246888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50" b="0" i="1">
                <a:solidFill>
                  <a:srgbClr val="D0E4F7"/>
                </a:solidFill>
                <a:latin typeface="Aptos"/>
              </a:rPr>
              <a:t>Action 1 completed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170432"/>
            <a:ext cx="274320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225296"/>
            <a:ext cx="27432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ptos"/>
              </a:rPr>
              <a:t>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55648"/>
            <a:ext cx="2468880" cy="201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Pipeline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84248"/>
            <a:ext cx="246888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50" b="0" i="1">
                <a:solidFill>
                  <a:srgbClr val="D0E4F7"/>
                </a:solidFill>
                <a:latin typeface="Aptos"/>
              </a:rPr>
              <a:t>functional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697480"/>
            <a:ext cx="53035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Aptos"/>
              </a:rPr>
              <a:t>What has been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63240"/>
            <a:ext cx="53035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PDF extraction into provenance-preserving chunks.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Retrieval cascade: document matching, BM25, regex, and vector fallback.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LLM evaluation that proposes a 0 / 1 / 3 Maturity Score.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FastAPI + Vue interface for upload, evidence review, and auditor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97480"/>
            <a:ext cx="53035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Aptos"/>
              </a:rPr>
              <a:t>Current 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63240"/>
            <a:ext cx="53035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Only IPMP Action 1 is fully encoded and evaluated.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Validation so far is strongest on controlled or synthetic corpus.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Real PPP document validation and model comparison remain next steps.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C1C1C"/>
                </a:solidFill>
                <a:latin typeface="Aptos"/>
              </a:rPr>
              <a:t>• The frontend is functional, but still needs user validation with auditors.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92240"/>
            <a:ext cx="31546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850" b="0" i="0">
                <a:solidFill>
                  <a:srgbClr val="667585"/>
                </a:solidFill>
                <a:latin typeface="Aptos"/>
              </a:rPr>
              <a:t>Progress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502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7132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Refined Research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"/>
            <a:ext cx="10698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i="1">
                <a:solidFill>
                  <a:srgbClr val="D0E4F7"/>
                </a:solidFill>
                <a:latin typeface="Aptos"/>
              </a:rPr>
              <a:t>From broad automation to defensible, reproducible auditor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1143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 i="0">
                <a:solidFill>
                  <a:srgbClr val="C9A02B"/>
                </a:solidFill>
                <a:latin typeface="Aptos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07899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ptos"/>
              </a:rPr>
              <a:t>Can an AI-assisted workflow produce traceable, reproducible, and auditor-verifiable PPP maturity assessments under the IPMP framework?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828800" cy="384048"/>
          </a:xfrm>
          <a:prstGeom prst="rect">
            <a:avLst/>
          </a:prstGeom>
          <a:solidFill>
            <a:srgbClr val="667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16352"/>
            <a:ext cx="17373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Initial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24912"/>
            <a:ext cx="86868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Aptos"/>
              </a:rPr>
              <a:t>Automate maturity scoring across PPP documents.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18288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67912"/>
            <a:ext cx="17373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76472"/>
            <a:ext cx="86868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Aptos"/>
              </a:rPr>
              <a:t>Prioritize one deeply validated IPMP Action before scaling to 46.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18288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173736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28032"/>
            <a:ext cx="868680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  <a:latin typeface="Aptos"/>
              </a:rPr>
              <a:t>A forensic evidence package: retrieved chunks, prompt, reasoning, flags, and proposed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789920" cy="3474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400" b="1" i="0">
                <a:solidFill>
                  <a:srgbClr val="1A3A5C"/>
                </a:solidFill>
                <a:latin typeface="Aptos"/>
              </a:rPr>
              <a:t>Next research step: validate Action 1 with a complete real PPP case, then compare model consistency and auditor override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492240"/>
            <a:ext cx="31546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850" b="0" i="0">
                <a:solidFill>
                  <a:srgbClr val="667585"/>
                </a:solidFill>
                <a:latin typeface="Aptos"/>
              </a:rPr>
              <a:t>Research Direction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502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7132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"/>
            <a:ext cx="10698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i="1">
                <a:solidFill>
                  <a:srgbClr val="D0E4F7"/>
                </a:solidFill>
                <a:latin typeface="Aptos"/>
              </a:rPr>
              <a:t>A staged pipeline with controlled validation before real-world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566928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35024"/>
            <a:ext cx="566928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07008"/>
            <a:ext cx="320040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 i="0">
                <a:solidFill>
                  <a:srgbClr val="1A3A5C"/>
                </a:solidFill>
                <a:latin typeface="Aptos"/>
              </a:rPr>
              <a:t>Ingest IPMP + Rio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16152"/>
            <a:ext cx="758952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70" b="0" i="0">
                <a:solidFill>
                  <a:srgbClr val="1C1C1C"/>
                </a:solidFill>
                <a:latin typeface="Aptos"/>
              </a:rPr>
              <a:t>Canonical JSON artifacts define the Acao, expected products, scoring rubric, and Rio-specific retrieval vocabulary.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94560"/>
            <a:ext cx="566928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95144"/>
            <a:ext cx="566928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67128"/>
            <a:ext cx="320040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 i="0">
                <a:solidFill>
                  <a:srgbClr val="1A3A5C"/>
                </a:solidFill>
                <a:latin typeface="Aptos"/>
              </a:rPr>
              <a:t>Extract document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176272"/>
            <a:ext cx="758952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70" b="0" i="0">
                <a:solidFill>
                  <a:srgbClr val="1C1C1C"/>
                </a:solidFill>
                <a:latin typeface="Aptos"/>
              </a:rPr>
              <a:t>PDF pages become chunks with filename, page, offset, OCR status, and source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54680"/>
            <a:ext cx="566928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255264"/>
            <a:ext cx="566928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27248"/>
            <a:ext cx="320040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 i="0">
                <a:solidFill>
                  <a:srgbClr val="1A3A5C"/>
                </a:solidFill>
                <a:latin typeface="Aptos"/>
              </a:rPr>
              <a:t>Retrieve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136392"/>
            <a:ext cx="758952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70" b="0" i="0">
                <a:solidFill>
                  <a:srgbClr val="1C1C1C"/>
                </a:solidFill>
                <a:latin typeface="Aptos"/>
              </a:rPr>
              <a:t>Deterministic lexical cascade runs first; vector search is fallback only when lexical retrieval returns no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14800"/>
            <a:ext cx="566928" cy="566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15384"/>
            <a:ext cx="566928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87368"/>
            <a:ext cx="320040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 i="0">
                <a:solidFill>
                  <a:srgbClr val="1A3A5C"/>
                </a:solidFill>
                <a:latin typeface="Aptos"/>
              </a:rPr>
              <a:t>Evaluate with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096512"/>
            <a:ext cx="758952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70" b="0" i="0">
                <a:solidFill>
                  <a:srgbClr val="1C1C1C"/>
                </a:solidFill>
                <a:latin typeface="Aptos"/>
              </a:rPr>
              <a:t>Fixed prompt, temperature zero, sentinel output, parsed reasoning, proposed score, and uncertainty flags.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74920"/>
            <a:ext cx="566928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175504"/>
            <a:ext cx="566928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47488"/>
            <a:ext cx="3200400" cy="2560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50" b="1" i="0">
                <a:solidFill>
                  <a:srgbClr val="1A3A5C"/>
                </a:solidFill>
                <a:latin typeface="Aptos"/>
              </a:rPr>
              <a:t>Auditor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056632"/>
            <a:ext cx="7589520" cy="5303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70" b="0" i="0">
                <a:solidFill>
                  <a:srgbClr val="1C1C1C"/>
                </a:solidFill>
                <a:latin typeface="Aptos"/>
              </a:rPr>
              <a:t>Final score is accepted or overridden by the auditor with justification and evidence references.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108192"/>
            <a:ext cx="11292840" cy="3840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190488"/>
            <a:ext cx="10972800" cy="16459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150" b="1" i="0">
                <a:solidFill>
                  <a:srgbClr val="1A3A5C"/>
                </a:solidFill>
                <a:latin typeface="Aptos"/>
              </a:rPr>
              <a:t>Validation plan: Phase A controlled corpus -&gt; Phase B real PPP documents -&gt; Phase C scale to more IPMP 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1546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850" b="0" i="0">
                <a:solidFill>
                  <a:srgbClr val="667585"/>
                </a:solidFill>
                <a:latin typeface="Aptos"/>
              </a:rPr>
              <a:t>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502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7132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Software Engineering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"/>
            <a:ext cx="10698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i="1">
                <a:solidFill>
                  <a:srgbClr val="D0E4F7"/>
                </a:solidFill>
                <a:latin typeface="Aptos"/>
              </a:rPr>
              <a:t>Design choices shaped by reproducibility, auditability, and maintainability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3566160" cy="164592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4533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4767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BM25, fixed prompts, and temperature-zero LLM calls make repeated evaluations comparable.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566160" cy="164592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54533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94767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Every EvaluationResult stores evidence, provenance, prompts, raw response, reasoning, and status flags.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23444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234440"/>
            <a:ext cx="3566160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4533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Separation of concerns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4767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Ingestion, extraction, retrieval, evaluation, assessment, API, and frontend have clear boundaries.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7472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474720"/>
            <a:ext cx="3566160" cy="164592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8561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Human in the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18795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The system proposes; the auditor decides. Overrides require justification.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47472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474720"/>
            <a:ext cx="3566160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78561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Progressive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18795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New Acoes can be added through source-of-truth artifacts rather than rewriting the core flow.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80" y="3474720"/>
            <a:ext cx="3566160" cy="1737360"/>
          </a:xfrm>
          <a:prstGeom prst="rect">
            <a:avLst/>
          </a:prstGeom>
          <a:solidFill>
            <a:srgbClr val="F2F4F7"/>
          </a:solidFill>
          <a:ln w="8890">
            <a:solidFill>
              <a:srgbClr val="D0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474720"/>
            <a:ext cx="3566160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785616"/>
            <a:ext cx="3154680" cy="2926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Aptos"/>
              </a:rPr>
              <a:t>Testable contracts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187952"/>
            <a:ext cx="3154680" cy="7498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140" b="0" i="0">
                <a:solidFill>
                  <a:srgbClr val="1C1C1C"/>
                </a:solidFill>
                <a:latin typeface="Aptos"/>
              </a:rPr>
              <a:t>Pydantic models, protocol interfaces, and automated tests keep module behavior explicit.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492240"/>
            <a:ext cx="31546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850" b="0" i="0">
                <a:solidFill>
                  <a:srgbClr val="667585"/>
                </a:solidFill>
                <a:latin typeface="Aptos"/>
              </a:rPr>
              <a:t>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50292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800" b="1" i="0">
                <a:solidFill>
                  <a:srgbClr val="C9A02B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"/>
            <a:ext cx="713232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Ethical and Cultural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"/>
            <a:ext cx="106984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050" b="0" i="1">
                <a:solidFill>
                  <a:srgbClr val="D0E4F7"/>
                </a:solidFill>
                <a:latin typeface="Aptos"/>
              </a:rPr>
              <a:t>Responsible use across workplace contexts, with a note on New Zealand and Māori culture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394960" cy="3108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Aptos"/>
              </a:rPr>
              <a:t>Ethical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39496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Maintain human accountability: final Maturity Score belongs to the auditor.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Protect procurement data through access control, retention limits, and careful handling of confidential documents.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Expose uncertainty, parse failures, and no-evidence states instead of hiding weak results.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Avoid overclaiming: the system supports judgment; it does not replace professional or legal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5394960" cy="3108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Aptos"/>
              </a:rPr>
              <a:t>Cultural fit for work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36192"/>
            <a:ext cx="539496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Use inclusive language and transparent decision records so teams can challenge system outputs respectfully.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Support local governance expectations, public-sector norms, and different documentation styles.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Design training and rollout around shared learning, not surveillance of individual staff.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C1C1C"/>
                </a:solidFill>
                <a:latin typeface="Aptos"/>
              </a:rPr>
              <a:t>• Keep explanations understandable for technical and non-technical stakeholders.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51960"/>
            <a:ext cx="1115568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1069848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300" b="1" i="0">
                <a:solidFill>
                  <a:srgbClr val="C9A02B"/>
                </a:solidFill>
                <a:latin typeface="Aptos"/>
              </a:rPr>
              <a:t>New Zealand / Māori culture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56692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Aptos"/>
              </a:rPr>
              <a:t>In a New Zealand context, the project should respect Māori data interests and relationship-based ways of working. Practical adaptation would include early consultation with relevant Māori stakeholders, attention to Te Tiriti o Waitangi obligations, and values such as manaakitanga, whanaungatanga, and kaitiakitanga when public-service data or community impacts are involved.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2240"/>
            <a:ext cx="31546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850" b="0" i="0">
                <a:solidFill>
                  <a:srgbClr val="667585"/>
                </a:solidFill>
                <a:latin typeface="Aptos"/>
              </a:rPr>
              <a:t>Ethics &amp; Culture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