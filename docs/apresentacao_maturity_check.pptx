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8012"/>
            <a:ext cx="9144000" cy="9144"/>
          </a:xfrm>
          <a:prstGeom prst="rect">
            <a:avLst/>
          </a:prstGeom>
          <a:solidFill>
            <a:srgbClr val="C4D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38912"/>
            <a:ext cx="8193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8DB7"/>
                </a:solidFill>
              </a:rPr>
              <a:t>CONTEXTO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58368"/>
            <a:ext cx="41148" cy="566928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8101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A"/>
                </a:solidFill>
              </a:rPr>
              <a:t>O que o auditor precisa fazer — e por que é difícil</a:t>
            </a:r>
          </a:p>
        </p:txBody>
      </p:sp>
      <p:pic>
        <p:nvPicPr>
          <p:cNvPr id="8" name="Picture 7" descr="logo_tcmrio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759452"/>
            <a:ext cx="3101111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" y="1389888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E36"/>
                </a:solidFill>
              </a:rPr>
              <a:t>Avaliar a maturidade de um projeto de PPP significa verificar se ele atende a 46 critérios de análise, organizados em 5 dimensões, com base no modelo de referência técnico IPMP.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20240"/>
            <a:ext cx="3886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E36"/>
                </a:solidFill>
              </a:rPr>
              <a:t>Para cada critério, o auditor precisa: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148840"/>
            <a:ext cx="201168" cy="201168"/>
          </a:xfrm>
          <a:prstGeom prst="rect">
            <a:avLst/>
          </a:prstGeom>
          <a:solidFill>
            <a:srgbClr val="E2EEF8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13969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6080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21408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Localizar evidências em documentos com centenas ou milhares de páginas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459736"/>
            <a:ext cx="201168" cy="201168"/>
          </a:xfrm>
          <a:prstGeom prst="rect">
            <a:avLst/>
          </a:prstGeom>
          <a:solidFill>
            <a:srgbClr val="E2EEF8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45059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6080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432304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Cruzar essas evidências com os critérios do modelo de referência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770632"/>
            <a:ext cx="201168" cy="201168"/>
          </a:xfrm>
          <a:prstGeom prst="rect">
            <a:avLst/>
          </a:prstGeom>
          <a:solidFill>
            <a:srgbClr val="E2EEF8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76148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608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743200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Produzir avaliação justificada, com fonte e raciocínio documentados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081528"/>
            <a:ext cx="201168" cy="201168"/>
          </a:xfrm>
          <a:prstGeom prst="rect">
            <a:avLst/>
          </a:prstGeom>
          <a:solidFill>
            <a:srgbClr val="E2EEF8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072384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6080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54096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Atribuir um score — 0, 1 ou 3 — por critério avaliado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62856" y="1389888"/>
            <a:ext cx="3886200" cy="685800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1453896"/>
            <a:ext cx="3758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A6080"/>
                </a:solidFill>
              </a:rPr>
              <a:t>O PROCESSO EM NÚMEROS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1655064"/>
            <a:ext cx="375818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46 critérios em 5 dimensões</a:t>
            </a:r>
          </a:p>
          <a:p>
            <a:pPr algn="l"/>
            <a:r>
              <a:rPr sz="900" b="0" i="0">
                <a:solidFill>
                  <a:srgbClr val="0D1E36"/>
                </a:solidFill>
              </a:rPr>
              <a:t>Score máximo: 138 pontos</a:t>
            </a:r>
          </a:p>
          <a:p>
            <a:pPr algn="l"/>
            <a:r>
              <a:rPr sz="900" b="0" i="0">
                <a:solidFill>
                  <a:srgbClr val="0D1E36"/>
                </a:solidFill>
              </a:rPr>
              <a:t>Documentos: centenas a milhares de páginas por processo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62856" y="2148840"/>
            <a:ext cx="3886200" cy="914400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2212848"/>
            <a:ext cx="3758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A6080"/>
                </a:solidFill>
              </a:rPr>
              <a:t>O DESAFIO CENTRAL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2414016"/>
            <a:ext cx="375818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Localizar manualmente evidências nesse volume de documentos é um trabalho intensivo, sujeito a vieses e difícil de padronizar. A ferramenta foi construída para apoiar esse trabalho — não para substituí-lo.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8012"/>
            <a:ext cx="9144000" cy="9144"/>
          </a:xfrm>
          <a:prstGeom prst="rect">
            <a:avLst/>
          </a:prstGeom>
          <a:solidFill>
            <a:srgbClr val="C4D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38912"/>
            <a:ext cx="8193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8DB7"/>
                </a:solidFill>
              </a:rPr>
              <a:t>O PROBLEMA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58368"/>
            <a:ext cx="41148" cy="566928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8101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A"/>
                </a:solidFill>
              </a:rPr>
              <a:t>Por que "enviar o processo inteiro a uma LLM" não é suficiente</a:t>
            </a:r>
          </a:p>
        </p:txBody>
      </p:sp>
      <p:pic>
        <p:nvPicPr>
          <p:cNvPr id="8" name="Picture 7" descr="logo_tcmrio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759452"/>
            <a:ext cx="3101111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" y="1389888"/>
            <a:ext cx="8193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E36"/>
                </a:solidFill>
              </a:rPr>
              <a:t>A resposta aparentemente óbvia deixa perguntas fundamentais sem resposta: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691640"/>
            <a:ext cx="3886200" cy="658368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1691640"/>
            <a:ext cx="41148" cy="658368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55648"/>
            <a:ext cx="3712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2D5A"/>
                </a:solidFill>
              </a:rPr>
              <a:t>De onde veio essa conclusão?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56816"/>
            <a:ext cx="3712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Sem rastreabilidade entre o resultado e o trecho do documento que o originou.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62856" y="1691640"/>
            <a:ext cx="3886200" cy="658368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62856" y="1691640"/>
            <a:ext cx="41148" cy="658368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755648"/>
            <a:ext cx="3712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2D5A"/>
                </a:solidFill>
              </a:rPr>
              <a:t>O resultado se repete?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1956816"/>
            <a:ext cx="3712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LLMs são probabilísticas: o mesmo prompt pode produzir scores diferentes em execuções distintas.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2441448"/>
            <a:ext cx="3886200" cy="658368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" y="2441448"/>
            <a:ext cx="41148" cy="658368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505456"/>
            <a:ext cx="3712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2D5A"/>
                </a:solidFill>
              </a:rPr>
              <a:t>O modelo leu todas as páginas?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706624"/>
            <a:ext cx="3712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Janelas de contexto têm limites. Documentos extensos são truncados ou ignorados.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62856" y="2441448"/>
            <a:ext cx="3886200" cy="658368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62856" y="2441448"/>
            <a:ext cx="41148" cy="658368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2505456"/>
            <a:ext cx="3712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2D5A"/>
                </a:solidFill>
              </a:rPr>
              <a:t>Como auditar o processo?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2706624"/>
            <a:ext cx="3712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Se o mecanismo é uma caixa preta, não é possível verificar a cadeia entre evidência e decisão.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3236976"/>
            <a:ext cx="8193024" cy="502920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" y="3236976"/>
            <a:ext cx="45720" cy="502920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3328416"/>
            <a:ext cx="80101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F2D5A"/>
                </a:solidFill>
              </a:rPr>
              <a:t>Uma ferramenta para uso profissional em auditoria precisa responder a essas perguntas — não deixá-las em aberto.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8012"/>
            <a:ext cx="9144000" cy="9144"/>
          </a:xfrm>
          <a:prstGeom prst="rect">
            <a:avLst/>
          </a:prstGeom>
          <a:solidFill>
            <a:srgbClr val="C4D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38912"/>
            <a:ext cx="8193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8DB7"/>
                </a:solidFill>
              </a:rPr>
              <a:t>REQUISITOS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58368"/>
            <a:ext cx="41148" cy="566928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8101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A"/>
                </a:solidFill>
              </a:rPr>
              <a:t>Quatro requisitos inegociáveis</a:t>
            </a:r>
          </a:p>
        </p:txBody>
      </p:sp>
      <p:pic>
        <p:nvPicPr>
          <p:cNvPr id="8" name="Picture 7" descr="logo_tcmrio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759452"/>
            <a:ext cx="3101111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5488" y="1389888"/>
            <a:ext cx="3886200" cy="1234440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389888"/>
            <a:ext cx="41148" cy="1234440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53896"/>
            <a:ext cx="3712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2D5A"/>
                </a:solidFill>
              </a:rPr>
              <a:t>Rastreabilidade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55064"/>
            <a:ext cx="3712464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Cada resultado deve ser rastreável até o documento, a página e o trecho que o originou. O auditor precisa conseguir responder: de onde veio esse score?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62856" y="1389888"/>
            <a:ext cx="3886200" cy="1234440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62856" y="1389888"/>
            <a:ext cx="41148" cy="1234440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453896"/>
            <a:ext cx="3712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2D5A"/>
                </a:solidFill>
              </a:rPr>
              <a:t>Reprodutibilidade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1655064"/>
            <a:ext cx="3712464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A mesma entrada deve produzir o mesmo resultado — ou o sistema deve sinalizar quando há variação. Auditorias exigem consistência metodológica.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752344"/>
            <a:ext cx="3886200" cy="1234440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" y="2752344"/>
            <a:ext cx="41148" cy="1234440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16352"/>
            <a:ext cx="3712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2D5A"/>
                </a:solidFill>
              </a:rPr>
              <a:t>Controle da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17520"/>
            <a:ext cx="3712464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A IA deve atuar nos pontos em que agrega valor real: interpretação e avaliação semântica. Não em todo o processo, sem supervisão.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62856" y="2752344"/>
            <a:ext cx="3886200" cy="1234440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62856" y="2752344"/>
            <a:ext cx="41148" cy="1234440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2816352"/>
            <a:ext cx="3712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2D5A"/>
                </a:solidFill>
              </a:rPr>
              <a:t>Auditabilidade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3017520"/>
            <a:ext cx="3712464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O processo — não apenas o resultado — deve poder ser verificado por um terceiro, incluindo a query usada, as evidências recuperadas e o raciocínio produzido.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8012"/>
            <a:ext cx="9144000" cy="9144"/>
          </a:xfrm>
          <a:prstGeom prst="rect">
            <a:avLst/>
          </a:prstGeom>
          <a:solidFill>
            <a:srgbClr val="C4D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38912"/>
            <a:ext cx="8193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8DB7"/>
                </a:solidFill>
              </a:rPr>
              <a:t>ARQUITETURA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58368"/>
            <a:ext cx="41148" cy="566928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8101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A"/>
                </a:solidFill>
              </a:rPr>
              <a:t>Uma cadeia controlada — a IA participa em pontos específicos</a:t>
            </a:r>
          </a:p>
        </p:txBody>
      </p:sp>
      <p:pic>
        <p:nvPicPr>
          <p:cNvPr id="8" name="Picture 7" descr="logo_tcmrio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759452"/>
            <a:ext cx="3101111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5488" y="1435608"/>
            <a:ext cx="1213104" cy="731520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527048"/>
            <a:ext cx="12131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Ingestão do</a:t>
            </a:r>
          </a:p>
          <a:p>
            <a:pPr algn="ctr"/>
            <a:r>
              <a:rPr sz="750" b="1" i="0">
                <a:solidFill>
                  <a:srgbClr val="FFFFFF"/>
                </a:solidFill>
              </a:rPr>
              <a:t>documento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203704"/>
            <a:ext cx="1213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A6080"/>
                </a:solidFill>
              </a:rPr>
              <a:t>determinístico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8592" y="1691640"/>
            <a:ext cx="18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4D4E6"/>
                </a:solidFill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1472" y="1435608"/>
            <a:ext cx="1213104" cy="731520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1472" y="1527048"/>
            <a:ext cx="12131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Fragmentação</a:t>
            </a:r>
          </a:p>
          <a:p>
            <a:pPr algn="ctr"/>
            <a:r>
              <a:rPr sz="750" b="1" i="0">
                <a:solidFill>
                  <a:srgbClr val="FFFFFF"/>
                </a:solidFill>
              </a:rPr>
              <a:t>em chunks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1472" y="2203704"/>
            <a:ext cx="1213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A6080"/>
                </a:solidFill>
              </a:rPr>
              <a:t>determinístico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4576" y="1691640"/>
            <a:ext cx="18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4D4E6"/>
                </a:solidFill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7456" y="1435608"/>
            <a:ext cx="1213104" cy="731520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7456" y="1527048"/>
            <a:ext cx="12131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Busca de evidências</a:t>
            </a:r>
          </a:p>
          <a:p>
            <a:pPr algn="ctr"/>
            <a:r>
              <a:rPr sz="750" b="1" i="0">
                <a:solidFill>
                  <a:srgbClr val="FFFFFF"/>
                </a:solidFill>
              </a:rPr>
              <a:t>(BM25+vetor)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7456" y="2203704"/>
            <a:ext cx="1213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A6080"/>
                </a:solidFill>
              </a:rPr>
              <a:t>determinístico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691640"/>
            <a:ext cx="18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4D4E6"/>
                </a:solidFill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1435608"/>
            <a:ext cx="1213104" cy="731520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1527048"/>
            <a:ext cx="12131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Gateway de</a:t>
            </a:r>
          </a:p>
          <a:p>
            <a:pPr algn="ctr"/>
            <a:r>
              <a:rPr sz="750" b="1" i="0">
                <a:solidFill>
                  <a:srgbClr val="FFFFFF"/>
                </a:solidFill>
              </a:rPr>
              <a:t>relevância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203704"/>
            <a:ext cx="1213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A6080"/>
                </a:solidFill>
              </a:rPr>
              <a:t>IA 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6544" y="1691640"/>
            <a:ext cx="18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4D4E6"/>
                </a:solidFill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59424" y="1435608"/>
            <a:ext cx="1213104" cy="731520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59424" y="1527048"/>
            <a:ext cx="12131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Avaliação</a:t>
            </a:r>
          </a:p>
          <a:p>
            <a:pPr algn="ctr"/>
            <a:r>
              <a:rPr sz="750" b="1" i="0">
                <a:solidFill>
                  <a:srgbClr val="FFFFFF"/>
                </a:solidFill>
              </a:rPr>
              <a:t>e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9424" y="2203704"/>
            <a:ext cx="1213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A6080"/>
                </a:solidFill>
              </a:rPr>
              <a:t>IA (LLM)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2528" y="1691640"/>
            <a:ext cx="18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4D4E6"/>
                </a:solidFill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5408" y="1435608"/>
            <a:ext cx="1213104" cy="731520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5408" y="1527048"/>
            <a:ext cx="12131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Revisão</a:t>
            </a:r>
          </a:p>
          <a:p>
            <a:pPr algn="ctr"/>
            <a:r>
              <a:rPr sz="750" b="1" i="0">
                <a:solidFill>
                  <a:srgbClr val="FFFFFF"/>
                </a:solidFill>
              </a:rPr>
              <a:t>humana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5408" y="2203704"/>
            <a:ext cx="1213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A6080"/>
                </a:solidFill>
              </a:rPr>
              <a:t>auditor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07008" y="2496312"/>
            <a:ext cx="109728" cy="109728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245973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080"/>
                </a:solidFill>
              </a:rPr>
              <a:t>Etapa determinística — mesma entrada, mesmo resultado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64608" y="2496312"/>
            <a:ext cx="109728" cy="109728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245973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080"/>
                </a:solidFill>
              </a:rPr>
              <a:t>Etapa com IA — interpretação e avaliação semântica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" y="2734056"/>
            <a:ext cx="8193024" cy="438912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2798064"/>
            <a:ext cx="8065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A IA aparece em 2 das 6 etapas. As demais são procedimentos determinísticos que controlam o contexto, preservam referências e tornam o processo auditável. O auditor humano valida todo resultado antes de qualquer registro final.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8012"/>
            <a:ext cx="9144000" cy="9144"/>
          </a:xfrm>
          <a:prstGeom prst="rect">
            <a:avLst/>
          </a:prstGeom>
          <a:solidFill>
            <a:srgbClr val="C4D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38912"/>
            <a:ext cx="8193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8DB7"/>
                </a:solidFill>
              </a:rPr>
              <a:t>RECUPERAÇÃO — ETAPA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58368"/>
            <a:ext cx="41148" cy="566928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8101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A"/>
                </a:solidFill>
              </a:rPr>
              <a:t>Transformar critério de auditoria em estratégia de busca</a:t>
            </a:r>
          </a:p>
        </p:txBody>
      </p:sp>
      <p:pic>
        <p:nvPicPr>
          <p:cNvPr id="8" name="Picture 7" descr="logo_tcmrio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759452"/>
            <a:ext cx="3101111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5488" y="1389888"/>
            <a:ext cx="3474720" cy="548640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53896"/>
            <a:ext cx="33467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A6080"/>
                </a:solidFill>
              </a:rPr>
              <a:t>CRITÉRIO IPMP — AÇÃO 1, PRODUTO 1a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33467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"Descrição concisa dos motivos pelos quais o projeto é necessário"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002536"/>
            <a:ext cx="3474720" cy="685800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66544"/>
            <a:ext cx="33467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A6080"/>
                </a:solidFill>
              </a:rPr>
              <a:t>O PROBLEMA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67712"/>
            <a:ext cx="33467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O modelo IPMP define o que avaliar, mas não diz quais palavras buscar nos documentos reais. O sistema precisa construir essa ponte — de forma escalável para as 46 ações.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2752344"/>
            <a:ext cx="3474720" cy="457200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16352"/>
            <a:ext cx="33467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A6080"/>
                </a:solidFill>
              </a:rPr>
              <a:t>FONTES DOS TERMOS DE BUSCA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17520"/>
            <a:ext cx="33467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Vocabulário do IPMP + termos do Manual do Rio + termos derivados empiricamente do corpus real.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389888"/>
            <a:ext cx="4517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A6080"/>
                </a:solidFill>
              </a:rPr>
              <a:t>QUERY GERADA — BUSCA LEXICAL (BM25), PRODUTO 1a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51376" y="1618488"/>
            <a:ext cx="4517136" cy="16002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709928"/>
            <a:ext cx="4379976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BADC"/>
                </a:solidFill>
              </a:rPr>
              <a:t>"fragmentação contratual" OR "obsolescência" OR "degradação" OR</a:t>
            </a:r>
          </a:p>
          <a:p>
            <a:pPr algn="l"/>
            <a:r>
              <a:rPr sz="750" b="0" i="0">
                <a:solidFill>
                  <a:srgbClr val="90BADC"/>
                </a:solidFill>
              </a:rPr>
              <a:t>"falhas na prestação" OR "deficiência operacional" OR</a:t>
            </a:r>
          </a:p>
          <a:p>
            <a:pPr algn="l"/>
            <a:r>
              <a:rPr sz="750" b="0" i="0">
                <a:solidFill>
                  <a:srgbClr val="90BADC"/>
                </a:solidFill>
              </a:rPr>
              <a:t>"insuficiência da infraestrutura" OR "capacidade insuficiente" OR</a:t>
            </a:r>
          </a:p>
          <a:p>
            <a:pPr algn="l"/>
            <a:r>
              <a:rPr sz="750" b="0" i="0">
                <a:solidFill>
                  <a:srgbClr val="90BADC"/>
                </a:solidFill>
              </a:rPr>
              <a:t>NEAR("deficiência" "infraestrutura", 5) OR</a:t>
            </a:r>
          </a:p>
          <a:p>
            <a:pPr algn="l"/>
            <a:r>
              <a:rPr sz="750" b="0" i="0">
                <a:solidFill>
                  <a:srgbClr val="90BADC"/>
                </a:solidFill>
              </a:rPr>
              <a:t>NEAR("capacidade" "insuficiente", 5) OR</a:t>
            </a:r>
          </a:p>
          <a:p>
            <a:pPr algn="l"/>
            <a:r>
              <a:rPr sz="750" b="0" i="0">
                <a:solidFill>
                  <a:srgbClr val="90BADC"/>
                </a:solidFill>
              </a:rPr>
              <a:t>NEAR("término" "vigência", 5) OR "vencimento contratual" OR</a:t>
            </a:r>
          </a:p>
          <a:p>
            <a:pPr algn="l"/>
            <a:r>
              <a:rPr sz="750" b="0" i="0">
                <a:solidFill>
                  <a:srgbClr val="90BADC"/>
                </a:solidFill>
              </a:rPr>
              <a:t>"encerramento contratual" OR "necessidade de nova contratação" OR</a:t>
            </a:r>
          </a:p>
          <a:p>
            <a:pPr algn="l"/>
            <a:r>
              <a:rPr sz="750" b="0" i="0">
                <a:solidFill>
                  <a:srgbClr val="90BADC"/>
                </a:solidFill>
              </a:rPr>
              <a:t>NEAR("nova" "contratação", 5) OR "demanda crescente" OR</a:t>
            </a:r>
          </a:p>
          <a:p>
            <a:pPr algn="l"/>
            <a:r>
              <a:rPr sz="750" b="0" i="0">
                <a:solidFill>
                  <a:srgbClr val="90BADC"/>
                </a:solidFill>
              </a:rPr>
              <a:t>"harmonização contratual" OR "contexto que origina o projeto" OR</a:t>
            </a:r>
          </a:p>
          <a:p>
            <a:pPr algn="l"/>
            <a:r>
              <a:rPr sz="750" b="0" i="0">
                <a:solidFill>
                  <a:srgbClr val="90BADC"/>
                </a:solidFill>
              </a:rPr>
              <a:t>"situação-problema" OR "motivação do projeto"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8012"/>
            <a:ext cx="9144000" cy="9144"/>
          </a:xfrm>
          <a:prstGeom prst="rect">
            <a:avLst/>
          </a:prstGeom>
          <a:solidFill>
            <a:srgbClr val="C4D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38912"/>
            <a:ext cx="8193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8DB7"/>
                </a:solidFill>
              </a:rPr>
              <a:t>RECUPERAÇÃO — ETAPA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58368"/>
            <a:ext cx="41148" cy="566928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8101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A"/>
                </a:solidFill>
              </a:rPr>
              <a:t>Encontrando evidências — busca lexical e semântica</a:t>
            </a:r>
          </a:p>
        </p:txBody>
      </p:sp>
      <p:pic>
        <p:nvPicPr>
          <p:cNvPr id="8" name="Picture 7" descr="logo_tcmrio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759452"/>
            <a:ext cx="3101111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" y="1389888"/>
            <a:ext cx="3886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A6080"/>
                </a:solidFill>
              </a:rPr>
              <a:t>BUSCA LEXICAL (BM25) — termos idênticos à 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618488"/>
            <a:ext cx="38862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1618488"/>
            <a:ext cx="3886200" cy="256032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9496" y="1664208"/>
            <a:ext cx="475488" cy="164592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1655064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BM25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1664208"/>
            <a:ext cx="3227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6080"/>
                </a:solidFill>
              </a:rPr>
              <a:t>📄 SMG-040_101607_2024_1.pdf   📍 Pág. 3   Produto 1a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920240"/>
            <a:ext cx="3739896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E36"/>
                </a:solidFill>
              </a:rPr>
              <a:t>Estes contratos possuem vigência até dia 12 de dezembro de 2026. Diante da proximidade do término dos contratos de concessão supracitados, é imperativo que o Município realize nova licitação com devida antecedência para garantir a continuidade das atividades de manutenção, conservação e instalação de mobiliário urbano...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813048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A6080"/>
                </a:solidFill>
              </a:rPr>
              <a:t>Recuperado porque contém "término dos contratos" e "nova licitação" — termos presentes na query.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1389888"/>
            <a:ext cx="3886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A6080"/>
                </a:solidFill>
              </a:rPr>
              <a:t>BUSCA SEMÂNTICA (vetorial) — proximidade de significado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2856" y="1618488"/>
            <a:ext cx="38862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62856" y="1618488"/>
            <a:ext cx="3886200" cy="256032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26864" y="1664208"/>
            <a:ext cx="475488" cy="164592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1655064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Vetorial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1664208"/>
            <a:ext cx="3227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6080"/>
                </a:solidFill>
              </a:rPr>
              <a:t>📄 SMG-040_101607_2024_2.pdf   📍 Pág. 40   Produto 1a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1920240"/>
            <a:ext cx="3739896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E36"/>
                </a:solidFill>
              </a:rPr>
              <a:t>...promover, oportunamente, as substituições demandadas em função do desgaste, superação tecnológica ou término da sua vida útil, e ainda, promover os reparos ou modernizações necessárias à boa execução e à preservação da adequação das atividades e serviços...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3813048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A6080"/>
                </a:solidFill>
              </a:rPr>
              <a:t>Recuperado sem correspondência de termos — semanticamente, "desgaste e fim de vida útil" é próximo de "infraestrutura que justifica novo projeto".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8012"/>
            <a:ext cx="9144000" cy="9144"/>
          </a:xfrm>
          <a:prstGeom prst="rect">
            <a:avLst/>
          </a:prstGeom>
          <a:solidFill>
            <a:srgbClr val="C4D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38912"/>
            <a:ext cx="8193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8DB7"/>
                </a:solidFill>
              </a:rPr>
              <a:t>SELEÇÃO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58368"/>
            <a:ext cx="41148" cy="566928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8101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A"/>
                </a:solidFill>
              </a:rPr>
              <a:t>Candidatos ≠ evidências — o gateway de relevância</a:t>
            </a:r>
          </a:p>
        </p:txBody>
      </p:sp>
      <p:pic>
        <p:nvPicPr>
          <p:cNvPr id="8" name="Picture 7" descr="logo_tcmrio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759452"/>
            <a:ext cx="3101111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5488" y="1389888"/>
            <a:ext cx="4572000" cy="731520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53896"/>
            <a:ext cx="44439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A6080"/>
                </a:solidFill>
              </a:rPr>
              <a:t>O QUE É O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44439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Um segundo modelo de IA — menor, local, executado na própria máquina — verifica se cada fragmento recuperado é de fato relevante para o critério em avaliação, antes de enviá-lo ao avaliador principal.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194560"/>
            <a:ext cx="4572000" cy="1234440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2194560"/>
            <a:ext cx="41148" cy="1234440"/>
          </a:xfrm>
          <a:prstGeom prst="rect">
            <a:avLst/>
          </a:prstGeom>
          <a:solidFill>
            <a:srgbClr val="7B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258568"/>
            <a:ext cx="4398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A6080"/>
                </a:solidFill>
              </a:rPr>
              <a:t>CARACTERÍSTICAS DO GATEWAY ATUAL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59736"/>
            <a:ext cx="4398264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Lento: 4–6 segundos por chamada; ~40 chamadas por avaliação ≈ 25 minutos no hardware atual (i8, 10ª geração, sem GPU).</a:t>
            </a:r>
          </a:p>
          <a:p>
            <a:pPr algn="l"/>
            <a:r>
              <a:rPr sz="900" b="0" i="0">
                <a:solidFill>
                  <a:srgbClr val="0D1E36"/>
                </a:solidFill>
              </a:rPr>
              <a:t/>
            </a:r>
          </a:p>
          <a:p>
            <a:pPr algn="l"/>
            <a:r>
              <a:rPr sz="900" b="0" i="0">
                <a:solidFill>
                  <a:srgbClr val="0D1E36"/>
                </a:solidFill>
              </a:rPr>
              <a:t>Controlado: roda localmente, sem dependência de serviço externo.</a:t>
            </a:r>
          </a:p>
          <a:p>
            <a:pPr algn="l"/>
            <a:r>
              <a:rPr sz="900" b="0" i="0">
                <a:solidFill>
                  <a:srgbClr val="0D1E36"/>
                </a:solidFill>
              </a:rPr>
              <a:t/>
            </a:r>
          </a:p>
          <a:p>
            <a:pPr algn="l"/>
            <a:r>
              <a:rPr sz="900" b="0" i="0">
                <a:solidFill>
                  <a:srgbClr val="0D1E36"/>
                </a:solidFill>
              </a:rPr>
              <a:t>Barato: sem custo de API.</a:t>
            </a:r>
          </a:p>
          <a:p>
            <a:pPr algn="l"/>
            <a:r>
              <a:rPr sz="900" b="0" i="0">
                <a:solidFill>
                  <a:srgbClr val="0D1E36"/>
                </a:solidFill>
              </a:rPr>
              <a:t/>
            </a:r>
          </a:p>
          <a:p>
            <a:pPr algn="l"/>
            <a:r>
              <a:rPr sz="900" b="0" i="0">
                <a:solidFill>
                  <a:srgbClr val="0D1E36"/>
                </a:solidFill>
              </a:rPr>
              <a:t>Erra mais: modelos menores têm menor precisão, especialmente em textos jurídicos e técnicos em português.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48656" y="1389888"/>
            <a:ext cx="3419856" cy="822960"/>
          </a:xfrm>
          <a:prstGeom prst="rect">
            <a:avLst/>
          </a:prstGeom>
          <a:solidFill>
            <a:srgbClr val="F1F6FB"/>
          </a:solidFill>
          <a:ln w="9525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8656" y="1463040"/>
            <a:ext cx="3419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4A6080"/>
                </a:solidFill>
              </a:rPr>
              <a:t>FRAGMENTOS CANDIDATOS POR AVALIAÇÃO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1627632"/>
            <a:ext cx="3419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F2D5A"/>
                </a:solidFill>
              </a:rPr>
              <a:t>~40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2258568"/>
            <a:ext cx="3419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8DB7"/>
                </a:solidFill>
              </a:rPr>
              <a:t>↓   gateway de relevância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656" y="2395728"/>
            <a:ext cx="3419856" cy="822960"/>
          </a:xfrm>
          <a:prstGeom prst="rect">
            <a:avLst/>
          </a:prstGeom>
          <a:solidFill>
            <a:srgbClr val="E2EEF8"/>
          </a:solidFill>
          <a:ln w="19050">
            <a:solidFill>
              <a:srgbClr val="4A8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468880"/>
            <a:ext cx="3419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4A6080"/>
                </a:solidFill>
              </a:rPr>
              <a:t>EVIDÊNCIAS ACEITAS ENVIADAS AO AVALIADOR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2633472"/>
            <a:ext cx="3419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F2D5A"/>
                </a:solidFill>
              </a:rPr>
              <a:t>~20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8012"/>
            <a:ext cx="9144000" cy="9144"/>
          </a:xfrm>
          <a:prstGeom prst="rect">
            <a:avLst/>
          </a:prstGeom>
          <a:solidFill>
            <a:srgbClr val="C4D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38912"/>
            <a:ext cx="8193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8DB7"/>
                </a:solidFill>
              </a:rPr>
              <a:t>AVALIAÇÃO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58368"/>
            <a:ext cx="41148" cy="566928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8101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A"/>
                </a:solidFill>
              </a:rPr>
              <a:t>Da evidência ao score — um procedimento definido, não uma opinião</a:t>
            </a:r>
          </a:p>
        </p:txBody>
      </p:sp>
      <p:pic>
        <p:nvPicPr>
          <p:cNvPr id="8" name="Picture 7" descr="logo_tcmrio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759452"/>
            <a:ext cx="3101111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5488" y="1389888"/>
            <a:ext cx="2609088" cy="1417320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53896"/>
            <a:ext cx="2481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A6080"/>
                </a:solidFill>
              </a:rPr>
              <a:t>1 — CRITÉRIOS DO IPMP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248107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O avaliador recebe os critérios formais do IPMP para cada produto esperado: o que caracteriza atendimento pleno (score 3), parcial (score 1) e ausência (score 0), com exemplos concretos de cada situação.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7456" y="1389888"/>
            <a:ext cx="2609088" cy="1417320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0608" y="1453896"/>
            <a:ext cx="2481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A6080"/>
                </a:solidFill>
              </a:rPr>
              <a:t>2 — EVIDÊNCIAS POR PRODUTO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0608" y="1655064"/>
            <a:ext cx="248107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Os fragmentos aceitos chegam organizados por produto esperado (1a, 1b, 1c, 1d). O avaliador analisa cada bloco separadamente, sem misturar evidências de critérios distintos.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9424" y="1389888"/>
            <a:ext cx="2609088" cy="1417320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2576" y="1453896"/>
            <a:ext cx="2481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A6080"/>
                </a:solidFill>
              </a:rPr>
              <a:t>3 — RACIOCÍNIO 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2576" y="1655064"/>
            <a:ext cx="248107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O modelo produz um raciocínio por produto — citando o que encontrou e o que não encontrou — e ao final atribui um score único para a ação, com flag de incerteza quando o julgamento for limítrofe.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2898648"/>
            <a:ext cx="8193024" cy="640080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" y="2898648"/>
            <a:ext cx="45720" cy="640080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2935224"/>
            <a:ext cx="8010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A6080"/>
                </a:solidFill>
              </a:rPr>
              <a:t>EXEMPLO REAL — PROCESSO SMG-040_101607_2024, AÇÃO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3118104"/>
            <a:ext cx="8010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D1E36"/>
                </a:solidFill>
              </a:rPr>
              <a:t>"Produto 1b: As evidências não oferecem uma descrição detalhada do panorama econômico, social e ambiental mais amplo. A única menção relevante está na página 192 — conclusão de um estudo referencial, não uma análise abrangente."  →  Score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8012"/>
            <a:ext cx="9144000" cy="9144"/>
          </a:xfrm>
          <a:prstGeom prst="rect">
            <a:avLst/>
          </a:prstGeom>
          <a:solidFill>
            <a:srgbClr val="C4D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38912"/>
            <a:ext cx="8193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8DB7"/>
                </a:solidFill>
              </a:rPr>
              <a:t>RASTREABILIDADE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58368"/>
            <a:ext cx="41148" cy="566928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8101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A"/>
                </a:solidFill>
              </a:rPr>
              <a:t>De onde veio esse resultado? A cadeia completa</a:t>
            </a:r>
          </a:p>
        </p:txBody>
      </p:sp>
      <p:pic>
        <p:nvPicPr>
          <p:cNvPr id="8" name="Picture 7" descr="logo_tcmrio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759452"/>
            <a:ext cx="3101111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" y="1389888"/>
            <a:ext cx="8193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E36"/>
                </a:solidFill>
              </a:rPr>
              <a:t>Para qualquer score produzido, é possível reconstruir toda a cadeia de decisão — do resultado até o texto original no documento: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7393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1" i="0">
                <a:solidFill>
                  <a:srgbClr val="4A6080"/>
                </a:solidFill>
              </a:rPr>
              <a:t>RESULTADO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1709928"/>
            <a:ext cx="7205472" cy="329184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63040" y="1709928"/>
            <a:ext cx="36576" cy="329184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1764792"/>
            <a:ext cx="7068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E36"/>
                </a:solidFill>
              </a:rPr>
              <a:t>Score 3 — Ação 1, processo SMG-040_101607_2024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039112"/>
            <a:ext cx="7205472" cy="5016764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D4E6"/>
                </a:solidFill>
              </a:rPr>
              <a:t>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17627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1" i="0">
                <a:solidFill>
                  <a:srgbClr val="4A6080"/>
                </a:solidFill>
              </a:rPr>
              <a:t>RACIOCÍNIO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2112264"/>
            <a:ext cx="7205472" cy="329184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0" y="2112264"/>
            <a:ext cx="36576" cy="329184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2167128"/>
            <a:ext cx="7068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D1E36"/>
                </a:solidFill>
              </a:rPr>
              <a:t>"Os objetivos estratégicos estão claramente definidos: renovação tecnológica, captura de dados, modernização dos serviços..."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441448"/>
            <a:ext cx="7205472" cy="5016764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D4E6"/>
                </a:solidFill>
              </a:rPr>
              <a:t>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2578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1" i="0">
                <a:solidFill>
                  <a:srgbClr val="4A6080"/>
                </a:solidFill>
              </a:rPr>
              <a:t>EVIDÊNCIA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2514600"/>
            <a:ext cx="7205472" cy="329184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63040" y="2514600"/>
            <a:ext cx="36576" cy="329184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2569464"/>
            <a:ext cx="7068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D1E36"/>
                </a:solidFill>
              </a:rPr>
              <a:t>"...proximidade do término dos contratos de concessão... é imperativo que o Município realize nova licitação..."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2843784"/>
            <a:ext cx="7205472" cy="5016764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D4E6"/>
                </a:solidFill>
              </a:rPr>
              <a:t>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29809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1" i="0">
                <a:solidFill>
                  <a:srgbClr val="4A6080"/>
                </a:solidFill>
              </a:rPr>
              <a:t>FONTE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2916936"/>
            <a:ext cx="7205472" cy="329184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63040" y="2916936"/>
            <a:ext cx="36576" cy="329184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2971800"/>
            <a:ext cx="7068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E36"/>
                </a:solidFill>
              </a:rPr>
              <a:t>SMG-040_101607_2024_1.pdf — Página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3246120"/>
            <a:ext cx="7205472" cy="5016764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D4E6"/>
                </a:solidFill>
              </a:rPr>
              <a:t>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33832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1" i="0">
                <a:solidFill>
                  <a:srgbClr val="4A6080"/>
                </a:solidFill>
              </a:rPr>
              <a:t>CRITÉRIO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63040" y="3319272"/>
            <a:ext cx="7205472" cy="329184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63040" y="3319272"/>
            <a:ext cx="36576" cy="329184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3374136"/>
            <a:ext cx="7068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E36"/>
                </a:solidFill>
              </a:rPr>
              <a:t>IPMP — Ação 1, Produto 1a: "Descrição concisa dos motivos pelos quais o projeto é necessário"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8012"/>
            <a:ext cx="9144000" cy="9144"/>
          </a:xfrm>
          <a:prstGeom prst="rect">
            <a:avLst/>
          </a:prstGeom>
          <a:solidFill>
            <a:srgbClr val="C4D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38912"/>
            <a:ext cx="8193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8DB7"/>
                </a:solidFill>
              </a:rPr>
              <a:t>TESTES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58368"/>
            <a:ext cx="41148" cy="566928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8101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A"/>
                </a:solidFill>
              </a:rPr>
              <a:t>O que os testes demonstraram — e o que mudou na arquitetura</a:t>
            </a:r>
          </a:p>
        </p:txBody>
      </p:sp>
      <p:pic>
        <p:nvPicPr>
          <p:cNvPr id="8" name="Picture 7" descr="logo_tcmrio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759452"/>
            <a:ext cx="3101111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5488" y="1389888"/>
            <a:ext cx="8193024" cy="566928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389888"/>
            <a:ext cx="41148" cy="566928"/>
          </a:xfrm>
          <a:prstGeom prst="rect">
            <a:avLst/>
          </a:prstGeom>
          <a:solidFill>
            <a:srgbClr val="7B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26464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E36"/>
                </a:solidFill>
              </a:rPr>
              <a:t>Reprodutibilidade do scorer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81912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6080"/>
                </a:solidFill>
              </a:rPr>
              <a:t>O mesmo processo, mesmas configurações, produziu scores diferentes em execuções distintas. LLMs em serviços cloud não são determinísticas mesmo com temperatura zero.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83080"/>
            <a:ext cx="8046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B3A"/>
                </a:solidFill>
              </a:rPr>
              <a:t>→ Separação entre componentes determinísticos e probabilísticos; flag de incerteza obrigatória; revisão humana de cada score.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020824"/>
            <a:ext cx="8193024" cy="566928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" y="2020824"/>
            <a:ext cx="41148" cy="566928"/>
          </a:xfrm>
          <a:prstGeom prst="rect">
            <a:avLst/>
          </a:prstGeom>
          <a:solidFill>
            <a:srgbClr val="7B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057400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E36"/>
                </a:solidFill>
              </a:rPr>
              <a:t>Termos do IPMP insuficientes para o corpus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1284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6080"/>
                </a:solidFill>
              </a:rPr>
              <a:t>A query construída somente com o vocabulário do modelo de referência não localizava evidências no processo real. O documento usava expressões diferentes para o mesmo conceito.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414016"/>
            <a:ext cx="8046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B3A"/>
                </a:solidFill>
              </a:rPr>
              <a:t>→ Perfis de recuperação enriquecidos com termos derivados empiricamente: "fluxo de caixa livre", "premissas básicas", "CAPEX".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2651760"/>
            <a:ext cx="8193024" cy="566928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" y="2651760"/>
            <a:ext cx="41148" cy="566928"/>
          </a:xfrm>
          <a:prstGeom prst="rect">
            <a:avLst/>
          </a:prstGeom>
          <a:solidFill>
            <a:srgbClr val="7B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688336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E36"/>
                </a:solidFill>
              </a:rPr>
              <a:t>Gateway com modelo de menor porte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843784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6080"/>
                </a:solidFill>
              </a:rPr>
              <a:t>O primeiro modelo testado no gateway rejeitava fragmentos relevantes ou aceitava boilerplate sem discriminação — confirmado por inspeção direta das respostas brutas.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044952"/>
            <a:ext cx="8046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B3A"/>
                </a:solidFill>
              </a:rPr>
              <a:t>→ Substituição por modelo mais capaz (qwen2.5:7b), com validação em fragmentos de resultado conhecido antes da troca.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3282696"/>
            <a:ext cx="8193024" cy="566928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" y="3282696"/>
            <a:ext cx="41148" cy="566928"/>
          </a:xfrm>
          <a:prstGeom prst="rect">
            <a:avLst/>
          </a:prstGeom>
          <a:solidFill>
            <a:srgbClr val="7B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319272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E36"/>
                </a:solidFill>
              </a:rPr>
              <a:t>Falha de parse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474720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6080"/>
                </a:solidFill>
              </a:rPr>
              <a:t>Em uma execução, o modelo avaliador não produziu o bloco sentinela esperado (SCORE: X), tornando o score irrecuperável programaticamente.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675888"/>
            <a:ext cx="8046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B3A"/>
                </a:solidFill>
              </a:rPr>
              <a:t>→ Validação de formato obrigatória; flag parse_failed; resultado bloqueado até reprocessamento.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8012"/>
            <a:ext cx="9144000" cy="9144"/>
          </a:xfrm>
          <a:prstGeom prst="rect">
            <a:avLst/>
          </a:prstGeom>
          <a:solidFill>
            <a:srgbClr val="C4D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38912"/>
            <a:ext cx="8193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8DB7"/>
                </a:solidFill>
              </a:rPr>
              <a:t>LIMITAÇÕES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58368"/>
            <a:ext cx="41148" cy="566928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8101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A"/>
                </a:solidFill>
              </a:rPr>
              <a:t>O que o sistema ainda não faz — sem eufemismos</a:t>
            </a:r>
          </a:p>
        </p:txBody>
      </p:sp>
      <p:pic>
        <p:nvPicPr>
          <p:cNvPr id="8" name="Picture 7" descr="logo_tcmrio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759452"/>
            <a:ext cx="3101111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5488" y="1453896"/>
            <a:ext cx="201168" cy="201168"/>
          </a:xfrm>
          <a:prstGeom prst="rect">
            <a:avLst/>
          </a:prstGeom>
          <a:solidFill>
            <a:srgbClr val="E2EEF8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44475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6080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389888"/>
            <a:ext cx="7918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2D5A"/>
                </a:solidFill>
              </a:rPr>
              <a:t>Escopo atual: </a:t>
            </a:r>
            <a:r>
              <a:rPr sz="950" b="0">
                <a:solidFill>
                  <a:srgbClr val="0D1E36"/>
                </a:solidFill>
              </a:rPr>
              <a:t>Apenas a Ação 1 das 46 está completamente configurada e validada. As demais precisam de configuração, calibração e validação individuais.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856232"/>
            <a:ext cx="201168" cy="201168"/>
          </a:xfrm>
          <a:prstGeom prst="rect">
            <a:avLst/>
          </a:prstGeom>
          <a:solidFill>
            <a:srgbClr val="E2EEF8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84708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6080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792224"/>
            <a:ext cx="7918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2D5A"/>
                </a:solidFill>
              </a:rPr>
              <a:t>Variabilidade do scorer: </a:t>
            </a:r>
            <a:r>
              <a:rPr sz="950" b="0">
                <a:solidFill>
                  <a:srgbClr val="0D1E36"/>
                </a:solidFill>
              </a:rPr>
              <a:t>O modelo avaliador é não-determinístico mesmo com temperatura zero — confirmado em 17 execuções do mesmo processo (Score 3 em ~40% dos casos, 1 falha de parse).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2258568"/>
            <a:ext cx="201168" cy="201168"/>
          </a:xfrm>
          <a:prstGeom prst="rect">
            <a:avLst/>
          </a:prstGeom>
          <a:solidFill>
            <a:srgbClr val="E2EEF8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249424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6080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194560"/>
            <a:ext cx="7918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2D5A"/>
                </a:solidFill>
              </a:rPr>
              <a:t>Latência: </a:t>
            </a:r>
            <a:r>
              <a:rPr sz="950" b="0">
                <a:solidFill>
                  <a:srgbClr val="0D1E36"/>
                </a:solidFill>
              </a:rPr>
              <a:t>Uma avaliação completa da Ação 1 leva ~25 minutos no hardware atual. A limitação é o hardware — sem GPU, o gateway roda na CPU.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2660904"/>
            <a:ext cx="201168" cy="201168"/>
          </a:xfrm>
          <a:prstGeom prst="rect">
            <a:avLst/>
          </a:prstGeom>
          <a:solidFill>
            <a:srgbClr val="E2EEF8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651760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6080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596896"/>
            <a:ext cx="7918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2D5A"/>
                </a:solidFill>
              </a:rPr>
              <a:t>Recuperação imprecisa em casos específicos: </a:t>
            </a:r>
            <a:r>
              <a:rPr sz="950" b="0">
                <a:solidFill>
                  <a:srgbClr val="0D1E36"/>
                </a:solidFill>
              </a:rPr>
              <a:t>Alguns fragmentos esperados ainda não são consistentemente recuperados (ex.: panorama socioeconômico do Produto 1b). A lacuna está identificada e documentada.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3063240"/>
            <a:ext cx="201168" cy="201168"/>
          </a:xfrm>
          <a:prstGeom prst="rect">
            <a:avLst/>
          </a:prstGeom>
          <a:solidFill>
            <a:srgbClr val="E2EEF8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05409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6080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2999232"/>
            <a:ext cx="7918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2D5A"/>
                </a:solidFill>
              </a:rPr>
              <a:t>Interface de auditoria: </a:t>
            </a:r>
            <a:r>
              <a:rPr sz="950" b="0">
                <a:solidFill>
                  <a:srgbClr val="0D1E36"/>
                </a:solidFill>
              </a:rPr>
              <a:t>A interface funciona, mas ainda não foi testada em um fluxo real de trabalho por um auditor externo ao projeto.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8012"/>
            <a:ext cx="9144000" cy="9144"/>
          </a:xfrm>
          <a:prstGeom prst="rect">
            <a:avLst/>
          </a:prstGeom>
          <a:solidFill>
            <a:srgbClr val="C4D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38912"/>
            <a:ext cx="8193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8DB7"/>
                </a:solidFill>
              </a:rPr>
              <a:t>ESCALABILIDADE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58368"/>
            <a:ext cx="41148" cy="566928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8101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A"/>
                </a:solidFill>
              </a:rPr>
              <a:t>De 1 ação para 46 — e além</a:t>
            </a:r>
          </a:p>
        </p:txBody>
      </p:sp>
      <p:pic>
        <p:nvPicPr>
          <p:cNvPr id="8" name="Picture 7" descr="logo_tcmrio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759452"/>
            <a:ext cx="3101111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5488" y="1389888"/>
            <a:ext cx="3886200" cy="1371600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53896"/>
            <a:ext cx="3758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A8DB7"/>
                </a:solidFill>
              </a:rPr>
              <a:t>JÁ GENÉRICO — FUNCIONA PARA QUALQUER 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3758184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• Extração e fragmentação de documentos</a:t>
            </a:r>
          </a:p>
          <a:p>
            <a:pPr algn="l"/>
            <a:r>
              <a:rPr sz="900" b="0" i="0">
                <a:solidFill>
                  <a:srgbClr val="0D1E36"/>
                </a:solidFill>
              </a:rPr>
              <a:t>• Busca lexical (BM25) e semântica (vetorial)</a:t>
            </a:r>
          </a:p>
          <a:p>
            <a:pPr algn="l"/>
            <a:r>
              <a:rPr sz="900" b="0" i="0">
                <a:solidFill>
                  <a:srgbClr val="0D1E36"/>
                </a:solidFill>
              </a:rPr>
              <a:t>• Gateway de relevância</a:t>
            </a:r>
          </a:p>
          <a:p>
            <a:pPr algn="l"/>
            <a:r>
              <a:rPr sz="900" b="0" i="0">
                <a:solidFill>
                  <a:srgbClr val="0D1E36"/>
                </a:solidFill>
              </a:rPr>
              <a:t>• Motor de avaliação e scoring</a:t>
            </a:r>
          </a:p>
          <a:p>
            <a:pPr algn="l"/>
            <a:r>
              <a:rPr sz="900" b="0" i="0">
                <a:solidFill>
                  <a:srgbClr val="0D1E36"/>
                </a:solidFill>
              </a:rPr>
              <a:t>• Rastreabilidade e registro de decisões</a:t>
            </a:r>
          </a:p>
          <a:p>
            <a:pPr algn="l"/>
            <a:r>
              <a:rPr sz="900" b="0" i="0">
                <a:solidFill>
                  <a:srgbClr val="0D1E36"/>
                </a:solidFill>
              </a:rPr>
              <a:t>• Interface de revisão humana</a:t>
            </a:r>
          </a:p>
          <a:p>
            <a:pPr algn="l"/>
            <a:r>
              <a:rPr sz="900" b="0" i="0">
                <a:solidFill>
                  <a:srgbClr val="0D1E36"/>
                </a:solidFill>
              </a:rPr>
              <a:t>• ~400 testes automatizados garantindo estabilidade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62856" y="1389888"/>
            <a:ext cx="3886200" cy="1371600"/>
          </a:xfrm>
          <a:prstGeom prst="rect">
            <a:avLst/>
          </a:prstGeom>
          <a:solidFill>
            <a:srgbClr val="F1F6FB"/>
          </a:solidFill>
          <a:ln w="6350">
            <a:solidFill>
              <a:srgbClr val="C4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453896"/>
            <a:ext cx="3758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A8DB7"/>
                </a:solidFill>
              </a:rPr>
              <a:t>O QUE PRECISA SER FEITO POR AÇÃO (×45)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655064"/>
            <a:ext cx="3758184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E36"/>
                </a:solidFill>
              </a:rPr>
              <a:t>• Estruturação dos dados do IPMP (JSON)</a:t>
            </a:r>
          </a:p>
          <a:p>
            <a:pPr algn="l"/>
            <a:r>
              <a:rPr sz="900" b="0" i="0">
                <a:solidFill>
                  <a:srgbClr val="0D1E36"/>
                </a:solidFill>
              </a:rPr>
              <a:t>• Perfil de recuperação: termos e estratégias de busca</a:t>
            </a:r>
          </a:p>
          <a:p>
            <a:pPr algn="l"/>
            <a:r>
              <a:rPr sz="900" b="0" i="0">
                <a:solidFill>
                  <a:srgbClr val="0D1E36"/>
                </a:solidFill>
              </a:rPr>
              <a:t>• Validação com documentos reais do corpus</a:t>
            </a:r>
          </a:p>
          <a:p>
            <a:pPr algn="l"/>
            <a:r>
              <a:rPr sz="900" b="0" i="0">
                <a:solidFill>
                  <a:srgbClr val="0D1E36"/>
                </a:solidFill>
              </a:rPr>
              <a:t>• Ajuste dos termos baseado na validação empírica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2852928"/>
            <a:ext cx="8193024" cy="640080"/>
          </a:xfrm>
          <a:prstGeom prst="rect">
            <a:avLst/>
          </a:prstGeom>
          <a:solidFill>
            <a:srgbClr val="F1F6FB"/>
          </a:solidFill>
          <a:ln w="19050">
            <a:solidFill>
              <a:srgbClr val="0F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2852928"/>
            <a:ext cx="45720" cy="640080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2889504"/>
            <a:ext cx="8010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A6080"/>
                </a:solidFill>
              </a:rPr>
              <a:t>ESTIMATIVA DE PRAZO — TRABALHANDO 2 DIAS/SEMANA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3072384"/>
            <a:ext cx="8010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E36"/>
                </a:solidFill>
              </a:rPr>
              <a:t>Resolução da variabilidade do scorer: 2–4 semanas. Configuração e validação das demais 45 ações: 4–6 meses. Total estimado: 5 a 7 meses. A amplitude reflete incerteza sobre a complexidade das ações — a infraestrutura está pronta; o que resta é configuração e validação.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8012"/>
            <a:ext cx="9144000" cy="9144"/>
          </a:xfrm>
          <a:prstGeom prst="rect">
            <a:avLst/>
          </a:prstGeom>
          <a:solidFill>
            <a:srgbClr val="C4D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38912"/>
            <a:ext cx="8193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8DB7"/>
                </a:solidFill>
              </a:rPr>
              <a:t>CONCLUSÃO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58368"/>
            <a:ext cx="41148" cy="566928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8101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A"/>
                </a:solidFill>
              </a:rPr>
              <a:t>O que foi construído</a:t>
            </a:r>
          </a:p>
        </p:txBody>
      </p:sp>
      <p:pic>
        <p:nvPicPr>
          <p:cNvPr id="8" name="Picture 7" descr="logo_tcmrio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759452"/>
            <a:ext cx="3101111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5488" y="1481328"/>
            <a:ext cx="73152" cy="73152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389888"/>
            <a:ext cx="3749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E36"/>
                </a:solidFill>
              </a:rPr>
              <a:t>Pipeline completo de ponta a ponta — ingestão ao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62856" y="1481328"/>
            <a:ext cx="73152" cy="73152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1389888"/>
            <a:ext cx="3749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E36"/>
                </a:solidFill>
              </a:rPr>
              <a:t>Recuperação híbrida: busca lexical (BM25) + semântica (vetorial)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1819656"/>
            <a:ext cx="73152" cy="73152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1728216"/>
            <a:ext cx="3749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E36"/>
                </a:solidFill>
              </a:rPr>
              <a:t>Gateway de relevância por IA local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62856" y="1819656"/>
            <a:ext cx="73152" cy="73152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1728216"/>
            <a:ext cx="3749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E36"/>
                </a:solidFill>
              </a:rPr>
              <a:t>Rastreabilidade completa: resultado → documento → página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157984"/>
            <a:ext cx="73152" cy="73152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2066544"/>
            <a:ext cx="3749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E36"/>
                </a:solidFill>
              </a:rPr>
              <a:t>Interface de revisão humana — auditor valida cada 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62856" y="2157984"/>
            <a:ext cx="73152" cy="73152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2066544"/>
            <a:ext cx="3749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E36"/>
                </a:solidFill>
              </a:rPr>
              <a:t>~400 testes automatizados garantindo estabilidade da arquitetura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496312"/>
            <a:ext cx="73152" cy="73152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2404872"/>
            <a:ext cx="3749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E36"/>
                </a:solidFill>
              </a:rPr>
              <a:t>Ação 1 completamente configurada e validada com corpus real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62856" y="2496312"/>
            <a:ext cx="73152" cy="73152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2404872"/>
            <a:ext cx="3749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E36"/>
                </a:solidFill>
              </a:rPr>
              <a:t>Limitações identificadas, documentadas e com caminho de solução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2834640"/>
            <a:ext cx="8193024" cy="658368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" y="2834640"/>
            <a:ext cx="45720" cy="658368"/>
          </a:xfrm>
          <a:prstGeom prst="rect">
            <a:avLst/>
          </a:prstGeom>
          <a:solidFill>
            <a:srgbClr val="4A8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2916936"/>
            <a:ext cx="8010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F2D5A"/>
                </a:solidFill>
              </a:rPr>
              <a:t>O objetivo não é colocar um processo de 10.000 páginas dentro de uma LLM e pedir uma conclusão. O objetivo é construir uma cadeia controlada capaz de localizar evidências, relacioná-las aos critérios de auditoria, utilizar a IA nos pontos em que ela agrega mais valor e preservar a rastreabilidade que o trabalho de auditoria exige.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