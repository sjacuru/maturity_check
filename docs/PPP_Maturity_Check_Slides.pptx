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4400">
                <a:solidFill>
                  <a:srgbClr val="FFFFFF"/>
                </a:solidFill>
              </a:rPr>
              <a:t>PPP Maturity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800">
                <a:solidFill>
                  <a:srgbClr val="D0E4F7"/>
                </a:solidFill>
              </a:rPr>
              <a:t>Sistema de Suporte à Decisão para Avaliação de Maturidade de PPPs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400">
                <a:solidFill>
                  <a:srgbClr val="D0E4F7"/>
                </a:solidFill>
              </a:rPr>
              <a:t>Decision-Support System for PPP Maturity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200">
                <a:solidFill>
                  <a:srgbClr val="CCCCCC"/>
                </a:solidFill>
              </a:rPr>
              <a:t>Salim Jacuru  ·  sjacuru@gmail.com  ·  Junho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394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100">
                <a:solidFill>
                  <a:srgbClr val="CCCCCC"/>
                </a:solidFill>
              </a:rPr>
              <a:t>Framework IPMP (TCU 2026)  ·  46 Ações  ·  5 Dimensões  ·  Município do Rio de Janeiro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400">
                <a:solidFill>
                  <a:srgbClr val="FFFFFF"/>
                </a:solidFill>
              </a:rPr>
              <a:t>Estrutura da Apresentação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400">
                <a:solidFill>
                  <a:srgbClr val="D0E4F7"/>
                </a:solidFill>
              </a:rPr>
              <a:t>Presentation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2834640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FFFFF"/>
                </a:solidFill>
              </a:rPr>
              <a:t>1  Problema e 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D0E4F7"/>
                </a:solidFill>
              </a:rPr>
              <a:t>Problem and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188720"/>
            <a:ext cx="2834640" cy="1188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2152" y="1325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FFFFF"/>
                </a:solidFill>
              </a:rPr>
              <a:t>2  A Solução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1783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D0E4F7"/>
                </a:solidFill>
              </a:rPr>
              <a:t>The Solution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4224" y="1188720"/>
            <a:ext cx="2834640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1325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FFFFF"/>
                </a:solidFill>
              </a:rPr>
              <a:t>3  Arquitetura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1384" y="1783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D0E4F7"/>
                </a:solidFill>
              </a:rPr>
              <a:t>Architecture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63456" y="1188720"/>
            <a:ext cx="2834640" cy="1188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0616" y="1325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FFFFF"/>
                </a:solidFill>
              </a:rPr>
              <a:t>4  Módulos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616" y="1783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D0E4F7"/>
                </a:solidFill>
              </a:rPr>
              <a:t>Modules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42032"/>
            <a:ext cx="2834640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67919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FFFFF"/>
                </a:solidFill>
              </a:rPr>
              <a:t>5  Fluxo do Auditor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136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D0E4F7"/>
                </a:solidFill>
              </a:rPr>
              <a:t>Auditor Workflow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64992" y="2542032"/>
            <a:ext cx="2834640" cy="1188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02152" y="267919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FFFFF"/>
                </a:solidFill>
              </a:rPr>
              <a:t>6  Estado Atual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2152" y="3136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D0E4F7"/>
                </a:solidFill>
              </a:rPr>
              <a:t>Current State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4224" y="2542032"/>
            <a:ext cx="2834640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267919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FFFFF"/>
                </a:solidFill>
              </a:rPr>
              <a:t>7  Validação (Phase 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3136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D0E4F7"/>
                </a:solidFill>
              </a:rPr>
              <a:t>Validation (Phase A)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63456" y="2542032"/>
            <a:ext cx="2834640" cy="1188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0616" y="267919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FFFFF"/>
                </a:solidFill>
              </a:rPr>
              <a:t>8  Roteiro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0616" y="3136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D0E4F7"/>
                </a:solidFill>
              </a:rPr>
              <a:t>Roadmap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CCCCCC"/>
                </a:solidFill>
              </a:rPr>
              <a:t>Estrutura | Structure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400">
                <a:solidFill>
                  <a:srgbClr val="FFFFFF"/>
                </a:solidFill>
              </a:rPr>
              <a:t>O Problema: avaliação de maturidade de projetos PPP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400">
                <a:solidFill>
                  <a:srgbClr val="D0E4F7"/>
                </a:solidFill>
              </a:rPr>
              <a:t>The Problem: maturity assessment of PPP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356616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356616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07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FFFFF"/>
                </a:solidFill>
              </a:rPr>
              <a:t>Volume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745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1C1C1C"/>
                </a:solidFill>
              </a:rPr>
              <a:t>Dezenas de documentos, centenas de páginas por processo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611880"/>
            <a:ext cx="11640312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7033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2E6DA4"/>
                </a:solidFill>
              </a:rPr>
              <a:t>Dozens of documents, hundreds of pages per process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87952" y="1234440"/>
            <a:ext cx="356616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87952" y="1234440"/>
            <a:ext cx="356616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307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FFFFF"/>
                </a:solidFill>
              </a:rPr>
              <a:t>Subjetividade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18745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1C1C1C"/>
                </a:solidFill>
              </a:rPr>
              <a:t>Avaliadores diferentes → scores diferentes sem rastreabilidade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11880"/>
            <a:ext cx="11640312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5112" y="37033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2E6DA4"/>
                </a:solidFill>
              </a:rPr>
              <a:t>Different evaluators → different scores without traceability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1234440"/>
            <a:ext cx="356616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1234440"/>
            <a:ext cx="356616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9872" y="1307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FFFFF"/>
                </a:solidFill>
              </a:rPr>
              <a:t>Reprodutibilidade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47304" y="18745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1C1C1C"/>
                </a:solidFill>
              </a:rPr>
              <a:t>Requisito acadêmico: mesma entrada deve gerar mesmo resultado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611880"/>
            <a:ext cx="11640312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47304" y="37033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2E6DA4"/>
                </a:solidFill>
              </a:rPr>
              <a:t>Academic requirement: same input must produce same result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CCCCCC"/>
                </a:solidFill>
              </a:rPr>
              <a:t>1  Problema |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400">
                <a:solidFill>
                  <a:srgbClr val="FFFFFF"/>
                </a:solidFill>
              </a:rPr>
              <a:t>O Framework IPMP — 46 Ações, 5 Dimensões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400">
                <a:solidFill>
                  <a:srgbClr val="D0E4F7"/>
                </a:solidFill>
              </a:rPr>
              <a:t>The IPMP Framework — 46 Actions, 5 Dimensions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88720"/>
          <a:ext cx="685800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017520"/>
                <a:gridCol w="3291840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Dimensão (PT)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Dimension (EN)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1C1C1C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1C1C1C"/>
                          </a:solidFill>
                        </a:rPr>
                        <a:t>Pré-Análise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1C1C1C"/>
                          </a:solidFill>
                        </a:rPr>
                        <a:t>Pre-Analysis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1C1C1C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1C1C1C"/>
                          </a:solidFill>
                        </a:rPr>
                        <a:t>Estudos Técnicos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1C1C1C"/>
                          </a:solidFill>
                        </a:rPr>
                        <a:t>Technical Studies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1C1C1C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1C1C1C"/>
                          </a:solidFill>
                        </a:rPr>
                        <a:t>Modelagem e Estruturação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1C1C1C"/>
                          </a:solidFill>
                        </a:rPr>
                        <a:t>Modeling and Structuring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1C1C1C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1C1C1C"/>
                          </a:solidFill>
                        </a:rPr>
                        <a:t>Edital e Contrato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1C1C1C"/>
                          </a:solidFill>
                        </a:rPr>
                        <a:t>Bidding Documents and Contract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1C1C1C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1C1C1C"/>
                          </a:solidFill>
                        </a:rPr>
                        <a:t>Monitoramento e Gestão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1C1C1C"/>
                          </a:solidFill>
                        </a:rPr>
                        <a:t>Monitoring and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79" y="1188720"/>
            <a:ext cx="4297680" cy="24688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28016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FFFFF"/>
                </a:solidFill>
              </a:rPr>
              <a:t>Pontuação | Score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783080"/>
            <a:ext cx="502920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185623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182880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FFFFFF"/>
                </a:solidFill>
              </a:rPr>
              <a:t>Não Atendido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02996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Not Met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2350008"/>
            <a:ext cx="502920" cy="4572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242316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39572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FFFFFF"/>
                </a:solidFill>
              </a:rPr>
              <a:t>Parcialmente Atendido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59689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Partially Met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2916936"/>
            <a:ext cx="50292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2990088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962656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FFFFFF"/>
                </a:solidFill>
              </a:rPr>
              <a:t>Atendido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316382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Met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79" y="3749039"/>
            <a:ext cx="4297680" cy="64008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37947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1A3A5C"/>
                </a:solidFill>
              </a:rPr>
              <a:t>Pontuação máxima: 138 pts  (46 × 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206240"/>
            <a:ext cx="11430000" cy="640080"/>
          </a:xfrm>
          <a:prstGeom prst="rect">
            <a:avLst/>
          </a:prstGeom>
          <a:solidFill>
            <a:srgbClr val="D0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51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1A3A5C"/>
                </a:solidFill>
              </a:rPr>
              <a:t>Escopo Phase 1: Ação 1 apenas — "Descreva o projeto, seu contexto e os objetivos estratégicos"  |  Phase 1 scope: Action 1 only — "Describe the project, its context, and strategic objectives"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CCCCCC"/>
                </a:solidFill>
              </a:rPr>
              <a:t>1  Problema | Problem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400">
                <a:solidFill>
                  <a:srgbClr val="FFFFFF"/>
                </a:solidFill>
              </a:rPr>
              <a:t>A Solução: suporte à decisão, não substituição do auditor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400">
                <a:solidFill>
                  <a:srgbClr val="D0E4F7"/>
                </a:solidFill>
              </a:rPr>
              <a:t>The Solution: decision support, not auditor replacement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800">
                <a:solidFill>
                  <a:srgbClr val="FFFFFF"/>
                </a:solidFill>
              </a:rPr>
              <a:t>O sistema recupera evidências, raciocina e propõe uma pontuação.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642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300">
                <a:solidFill>
                  <a:srgbClr val="D0E4F7"/>
                </a:solidFill>
              </a:rPr>
              <a:t>The system retrieves evidence, reasons, and proposes a score.  The auditor validates.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514600"/>
            <a:ext cx="256032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514600"/>
            <a:ext cx="2560320" cy="530352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C9A02B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60604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FFFFF"/>
                </a:solidFill>
              </a:rPr>
              <a:t>Recuperação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843784"/>
            <a:ext cx="1965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Retrieval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004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1C1C1C"/>
                </a:solidFill>
              </a:rPr>
              <a:t>Localiza trechos
relevantes
no processo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617720"/>
            <a:ext cx="11640312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709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2E6DA4"/>
                </a:solidFill>
              </a:rPr>
              <a:t>Locates relevant
passages
in the process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2968" y="388620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200">
                <a:solidFill>
                  <a:srgbClr val="2E6DA4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66160" y="2514600"/>
            <a:ext cx="256032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66160" y="2514600"/>
            <a:ext cx="2560320" cy="530352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26060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C9A02B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9080" y="260604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FFFFF"/>
                </a:solidFill>
              </a:rPr>
              <a:t>Avaliação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2843784"/>
            <a:ext cx="1965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Evaluation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2004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1C1C1C"/>
                </a:solidFill>
              </a:rPr>
              <a:t>LLM raciocina
sobre as evidências
com critérios IPMP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617720"/>
            <a:ext cx="11640312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3320" y="4709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2E6DA4"/>
                </a:solidFill>
              </a:rPr>
              <a:t>LLM reasons
about evidence
using IPMP criteria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6208" y="388620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200">
                <a:solidFill>
                  <a:srgbClr val="2E6DA4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29400" y="2514600"/>
            <a:ext cx="256032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29400" y="2514600"/>
            <a:ext cx="2560320" cy="530352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26060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C9A02B"/>
                </a:solidFill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260604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FFFFF"/>
                </a:solidFill>
              </a:rPr>
              <a:t>Apresentação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2843784"/>
            <a:ext cx="1965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32004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1C1C1C"/>
                </a:solidFill>
              </a:rPr>
              <a:t>7 elementos do
pacote de evidências
para o auditor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617720"/>
            <a:ext cx="11640312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0" y="4709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2E6DA4"/>
                </a:solidFill>
              </a:rPr>
              <a:t>7-element evidence
package for
the auditor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99448" y="388620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200">
                <a:solidFill>
                  <a:srgbClr val="2E6DA4"/>
                </a:solidFill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92640" y="2514600"/>
            <a:ext cx="256032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92640" y="2514600"/>
            <a:ext cx="2560320" cy="530352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0" y="26060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C9A02B"/>
                </a:solidFill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60604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FFFFF"/>
                </a:solidFill>
              </a:rPr>
              <a:t>Validação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60" y="2843784"/>
            <a:ext cx="1965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Validation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29800" y="32004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1C1C1C"/>
                </a:solidFill>
              </a:rPr>
              <a:t>Auditor aceita
ou substitui
com justificativa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617720"/>
            <a:ext cx="11640312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29800" y="4709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2E6DA4"/>
                </a:solidFill>
              </a:rPr>
              <a:t>Auditor accepts
or overrides
with justification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CCCCCC"/>
                </a:solidFill>
              </a:rPr>
              <a:t>2  Solução | Solution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400">
                <a:solidFill>
                  <a:srgbClr val="FFFFFF"/>
                </a:solidFill>
              </a:rPr>
              <a:t>Fluxo de Informação Ponta-a-Ponta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400">
                <a:solidFill>
                  <a:srgbClr val="D0E4F7"/>
                </a:solidFill>
              </a:rPr>
              <a:t>End-to-End Information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2057400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1874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PDF do processo
(EVTEA, Relatório...)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84832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Process PDF
(EVTEA, Report...)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0008" y="1828800"/>
            <a:ext cx="155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000">
                <a:solidFill>
                  <a:srgbClr val="2E6DA4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31720" y="2788920"/>
            <a:ext cx="155448" cy="658368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96312" y="1463040"/>
            <a:ext cx="2057400" cy="1188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7752" y="1554480"/>
            <a:ext cx="1874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Chunks estruturados
(texto + metadados)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7752" y="2084832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Structured chunks
(text + metadata)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155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000">
                <a:solidFill>
                  <a:srgbClr val="2E6DA4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53712" y="2788920"/>
            <a:ext cx="155448" cy="658368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18304" y="1463040"/>
            <a:ext cx="2057400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9744" y="1554480"/>
            <a:ext cx="1874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Evidências recuperadas
(com proveniência)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9744" y="2084832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Retrieved evidence
(with provenance)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1828800"/>
            <a:ext cx="155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000">
                <a:solidFill>
                  <a:srgbClr val="2E6DA4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75704" y="2788920"/>
            <a:ext cx="155448" cy="658368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40296" y="1463040"/>
            <a:ext cx="2057400" cy="1188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31736" y="1554480"/>
            <a:ext cx="1874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Raciocínio + score
proposto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1736" y="2084832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Reasoning + proposed
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15984" y="1828800"/>
            <a:ext cx="155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000">
                <a:solidFill>
                  <a:srgbClr val="2E6DA4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97696" y="2788920"/>
            <a:ext cx="155448" cy="658368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62288" y="1463040"/>
            <a:ext cx="2057400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53728" y="1554480"/>
            <a:ext cx="1874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Decisão do auditor
(final + justificativa)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3728" y="2084832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Auditor decision
(final + justification)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02636" y="27889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A3A5C"/>
                </a:solidFill>
              </a:rPr>
              <a:t>Módulo 2
Extraction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4628" y="27889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A3A5C"/>
                </a:solidFill>
              </a:rPr>
              <a:t>Módulo 3
Retrieval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46620" y="27889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A3A5C"/>
                </a:solidFill>
              </a:rPr>
              <a:t>Módulo 4
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8612" y="27889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A3A5C"/>
                </a:solidFill>
              </a:rPr>
              <a:t>Módulo 5
Assessment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931920"/>
            <a:ext cx="1161288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1A3A5C"/>
                </a:solidFill>
              </a:rPr>
              <a:t>Princípios de Projeto | Design Principles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434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6DA4"/>
                </a:solidFill>
              </a:rPr>
              <a:t>Reprodutibilidade | Reproducibility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736592"/>
            <a:ext cx="3657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1C1C1C"/>
                </a:solidFill>
              </a:rPr>
              <a:t>BM25 determinístico + temperatura=0 → mesma entrada, mesmo score
Deterministic BM25 + temperature=0 → same input, same score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4434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6DA4"/>
                </a:solidFill>
              </a:rPr>
              <a:t>Rastreabilidade | Traceability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4736592"/>
            <a:ext cx="3657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1C1C1C"/>
                </a:solidFill>
              </a:rPr>
              <a:t>Cada score carrega sua cadeia de evidências completa
Every score carries its complete evidence chain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4434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6DA4"/>
                </a:solidFill>
              </a:rPr>
              <a:t>Humano no loop | Human in the loop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4736592"/>
            <a:ext cx="3657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1C1C1C"/>
                </a:solidFill>
              </a:rPr>
              <a:t>A pontuação final é sempre do auditor, nunca do sistema
The final score always belongs to the auditor, never the 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CCCCCC"/>
                </a:solidFill>
              </a:rPr>
              <a:t>3  Arquitetura | Architecture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400">
                <a:solidFill>
                  <a:srgbClr val="FFFFFF"/>
                </a:solidFill>
              </a:rPr>
              <a:t>Mapa de Módulos e Responsabilidades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400">
                <a:solidFill>
                  <a:srgbClr val="D0E4F7"/>
                </a:solidFill>
              </a:rPr>
              <a:t>Module Responsibility Map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43000"/>
          <a:ext cx="1161288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920240"/>
                <a:gridCol w="3291840"/>
                <a:gridCol w="438912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</a:rPr>
                        <a:t>Módulo | Module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</a:rPr>
                        <a:t>Estágio | Stage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</a:rPr>
                        <a:t>Entrada | Input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</a:rPr>
                        <a:t>Saída | Output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b="1" sz="1000">
                          <a:solidFill>
                            <a:srgbClr val="1C1C1C"/>
                          </a:solidFill>
                        </a:rPr>
                        <a:t>1 — Ingestion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Referência
Reference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Arquivos IPMP + Rio Manual
IPMP + Rio Manual 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Store de critérios e metadados
Criteria and search metadata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b="1" sz="1000">
                          <a:solidFill>
                            <a:srgbClr val="1C1C1C"/>
                          </a:solidFill>
                        </a:rPr>
                        <a:t>2 — Extraction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Extração
Extraction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PDF do processo
Process PDF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Lista de Chunks estruturados
List of structured Chunks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b="1" sz="1000">
                          <a:solidFill>
                            <a:srgbClr val="1C1C1C"/>
                          </a:solidFill>
                        </a:rPr>
                        <a:t>3 — Retrieval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Recuperação
Retrieval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Chunks indexados + critérios
Indexed chunks + criteria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RetrievedChunks com proveniência
RetrievedChunks with provenance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b="1" sz="1000">
                          <a:solidFill>
                            <a:srgbClr val="1C1C1C"/>
                          </a:solidFill>
                        </a:rPr>
                        <a:t>4 — Evaluation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Avaliação
Evaluation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RetrievedChunks + critérios IPMP
RetrievedChunks + IPMP criteria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EvaluationResult + raciocínio
EvaluationResult + reasoning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b="1" sz="1000">
                          <a:solidFill>
                            <a:srgbClr val="1C1C1C"/>
                          </a:solidFill>
                        </a:rPr>
                        <a:t>5 — Assessment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Orquestração + API
Orchestration +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PDFs do caso
Case PDFs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Resultados persistidos + REST API
Persisted results + REST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b="1" sz="1000">
                          <a:solidFill>
                            <a:srgbClr val="1C1C1C"/>
                          </a:solidFill>
                        </a:rPr>
                        <a:t>6 — Vector Fallback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Recuperação (fallback)
Retrieval (fallback)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Chunks sem resultado léxico
Chunks with no lexical result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Chunks por similaridade semântica
Chunks by semantic similarity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b="1" sz="1000">
                          <a:solidFill>
                            <a:srgbClr val="1C1C1C"/>
                          </a:solidFill>
                        </a:rPr>
                        <a:t>7 — Frontend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Interface do auditor
Auditor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API REST
REST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Painel Vue.js com evidências
Vue.js panel with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60120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CCCCCC"/>
                </a:solidFill>
              </a:rPr>
              <a:t>4  Módulos | Modules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400">
                <a:solidFill>
                  <a:srgbClr val="FFFFFF"/>
                </a:solidFill>
              </a:rPr>
              <a:t>Módulo 3 — Retrieval: Cascata de Recuperação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400">
                <a:solidFill>
                  <a:srgbClr val="D0E4F7"/>
                </a:solidFill>
              </a:rPr>
              <a:t>Module 3 — Retrieval: Retrieval Cascade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594360" cy="89611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71600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20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1188720"/>
            <a:ext cx="10607040" cy="8961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25272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A3A5C"/>
                </a:solidFill>
              </a:rPr>
              <a:t>Filename 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53619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1C1C1C"/>
                </a:solidFill>
              </a:rPr>
              <a:t>Compara nomes de arquivo com documentos do Rio Manual
Matches file names against Rio Manual document names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44475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1" sz="1000">
                <a:solidFill>
                  <a:srgbClr val="CCCCCC"/>
                </a:solidFill>
              </a:rPr>
              <a:t>Mais confiável | Most reliable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93976"/>
            <a:ext cx="2743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2E6DA4"/>
                </a:solidFill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39696"/>
            <a:ext cx="594360" cy="896112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322576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20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2139696"/>
            <a:ext cx="10607040" cy="8961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20370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A3A5C"/>
                </a:solidFill>
              </a:rPr>
              <a:t>Variant 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48716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1C1C1C"/>
                </a:solidFill>
              </a:rPr>
              <a:t>Busca variantes do nome do documento nos primeiros chunks
Searches document name variants in first chunks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044952"/>
            <a:ext cx="2743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2E6DA4"/>
                </a:solidFill>
              </a:rP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090672"/>
            <a:ext cx="594360" cy="89611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273552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20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" y="3090672"/>
            <a:ext cx="10607040" cy="8961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15468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A3A5C"/>
                </a:solidFill>
              </a:rPr>
              <a:t>BM25 Corpus-Wide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438144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1C1C1C"/>
                </a:solidFill>
              </a:rPr>
              <a:t>FTS5 OR queries: termos IPMP + hints curados Rio Manual
FTS5 OR queries: IPMP terms + curated Rio Manual hints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3467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1" sz="1000">
                <a:solidFill>
                  <a:srgbClr val="E65C00"/>
                </a:solidFill>
              </a:rPr>
              <a:t>⚠  Fix A1 aplicado | applied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995928"/>
            <a:ext cx="2743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2E6DA4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041648"/>
            <a:ext cx="594360" cy="896112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224528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200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" y="4041648"/>
            <a:ext cx="10607040" cy="8961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10565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A3A5C"/>
                </a:solidFill>
              </a:rPr>
              <a:t>Regex Patterns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3891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1C1C1C"/>
                </a:solidFill>
              </a:rPr>
              <a:t>Padrões legais específicos (ex: Lei Complementar n.º 105/2009)
Specific legal patterns (e.g., Complementary Law No. 105/2009)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42976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1" sz="1000">
                <a:solidFill>
                  <a:srgbClr val="CCCCCC"/>
                </a:solidFill>
              </a:rPr>
              <a:t>Aditivo ao BM25 | Additive to BM25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946904"/>
            <a:ext cx="2743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2E6DA4"/>
                </a:solidFill>
              </a:rPr>
              <a:t>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992624"/>
            <a:ext cx="594360" cy="89611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5175504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200">
                <a:solidFill>
                  <a:srgbClr val="FFFFFF"/>
                </a:solidFill>
              </a:rPr>
              <a:t>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4992624"/>
            <a:ext cx="10607040" cy="8961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05663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A3A5C"/>
                </a:solidFill>
              </a:rPr>
              <a:t>Vector Fallback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5340096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1C1C1C"/>
                </a:solidFill>
              </a:rPr>
              <a:t>LanceDB + all-MiniLM-L6-v2 — apenas se A–D = ∅
LanceDB + all-MiniLM-L6-v2 — only if A–D = 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0" y="524865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1" sz="1000">
                <a:solidFill>
                  <a:srgbClr val="CCCCCC"/>
                </a:solidFill>
              </a:rPr>
              <a:t>Menos confiável | Least reliable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CCCCCC"/>
                </a:solidFill>
              </a:rPr>
              <a:t>4  Módulos | 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400">
                <a:solidFill>
                  <a:srgbClr val="FFFFFF"/>
                </a:solidFill>
              </a:rPr>
              <a:t>Módulo 4 — Evaluation: Prompt e Raciocínio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400">
                <a:solidFill>
                  <a:srgbClr val="D0E4F7"/>
                </a:solidFill>
              </a:rPr>
              <a:t>Module 4 — Evaluation: Prompt and Reasoning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48640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486400" cy="38404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Prompt de Sistema | System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00200"/>
            <a:ext cx="5212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Papel: avaliador especialista IPMP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Critérios detalhados da Ação (produtos 1a–1d)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Rubric: exemplos pontuados (Atendido / Parcialmente / Não Atendido)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Instrução de formato: raciocínio livre + bloco sentinela obrigatório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─────────────────────────────────────────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Role: expert IPMP evaluator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Detailed action criteria (products 1a–1d)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Rubric: scored examples (Met / Partial / Not Met)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Format: free reasoning + mandatory sentinel block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703320"/>
            <a:ext cx="5486400" cy="384048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3749039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Prompt de Usuário | User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160520"/>
            <a:ext cx="5212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[Arquivo: Relatório de Pré-Análise.pdf | Página: 3]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... texto do chunk ...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[Arquivo: EVTEA.pdf | Página: 12]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... texto do chunk ...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(até 20.000 chars; prioridade por etapa da cascata)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(up to 20,000 chars; priority by cascade step)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143000"/>
            <a:ext cx="585216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0" y="1143000"/>
            <a:ext cx="5852160" cy="38404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18872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Resposta do LLM | LLM 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600200"/>
            <a:ext cx="5577840" cy="2331720"/>
          </a:xfrm>
          <a:prstGeom prst="rect">
            <a:avLst/>
          </a:prstGeom>
          <a:solidFill>
            <a:srgbClr val="1A3A5C"/>
          </a:solidFill>
          <a:ln w="635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645920"/>
            <a:ext cx="53949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Raciocínio:
Os Produtos Esperados 1a–1d estão evidenciados:
1a. Necessidade → Seção 1 do documento
1b. Contexto econômico → Seção 2
1c. Objetivos estratégicos → Seção 3
1d. Alinhamento com PPA/LOA/LDO → Seção 4
Bloco sentinela:
SCORE: 3
UNCERTAINTY: 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023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1A3A5C"/>
                </a:solidFill>
              </a:rPr>
              <a:t>Modo de falha seguro | Safe 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438912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parse_failed=True se o sentinela não for encontrado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Auditor é notificado; score não é gravado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parse_failed=True if sentinel not found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Auditor is notified; score is not recorded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CCCCCC"/>
                </a:solidFill>
              </a:rPr>
              <a:t>4  Módulos | 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400">
                <a:solidFill>
                  <a:srgbClr val="FFFFFF"/>
                </a:solidFill>
              </a:rPr>
              <a:t>Fluxo de Trabalho do Auditor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400">
                <a:solidFill>
                  <a:srgbClr val="D0E4F7"/>
                </a:solidFill>
              </a:rPr>
              <a:t>Auditor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2011680" cy="1828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25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01368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Informa número do processo
e faz upload dos PDFs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4688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900">
                <a:solidFill>
                  <a:srgbClr val="D0E4F7"/>
                </a:solidFill>
              </a:rPr>
              <a:t>Enters process number
and uploads PDFs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1874520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000">
                <a:solidFill>
                  <a:srgbClr val="2E6DA4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15768" y="1234440"/>
            <a:ext cx="2011680" cy="18288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7208" y="1325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Indexação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7208" y="1801368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Sistema extrai, chunka
e indexa o texto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24688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900">
                <a:solidFill>
                  <a:srgbClr val="D0E4F7"/>
                </a:solidFill>
              </a:rPr>
              <a:t>Extraction
chunking
indexing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874520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000">
                <a:solidFill>
                  <a:srgbClr val="2E6DA4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11496" y="1234440"/>
            <a:ext cx="2011680" cy="1828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02936" y="1325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Recuperação
+ Avaliação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2936" y="1801368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Cascata BM25/regex;
LLM raciocina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2936" y="24688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900">
                <a:solidFill>
                  <a:srgbClr val="D0E4F7"/>
                </a:solidFill>
              </a:rPr>
              <a:t>BM25/regex cascade;
LLM reasons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14616" y="1874520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000">
                <a:solidFill>
                  <a:srgbClr val="2E6DA4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07224" y="1234440"/>
            <a:ext cx="2011680" cy="18288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98664" y="1325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Painel
Ação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98664" y="1801368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7 elementos do
pacote de evidências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98664" y="24688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900">
                <a:solidFill>
                  <a:srgbClr val="D0E4F7"/>
                </a:solidFill>
              </a:rPr>
              <a:t>7 elements of
evidence package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0344" y="1874520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000">
                <a:solidFill>
                  <a:srgbClr val="2E6DA4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02952" y="1234440"/>
            <a:ext cx="2011680" cy="1828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94392" y="1325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Decisão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94392" y="1801368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Aceitar ou substituir
com justificativa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94392" y="24688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900">
                <a:solidFill>
                  <a:srgbClr val="D0E4F7"/>
                </a:solidFill>
              </a:rPr>
              <a:t>Accept or override
with justification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A3A5C"/>
                </a:solidFill>
              </a:rPr>
              <a:t>Os 7 elementos do pacote de evidências | The 7-element evidence package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20040" y="3611880"/>
          <a:ext cx="71323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</a:rPr>
                        <a:t>Elemento (PT)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</a:rPr>
                        <a:t>Element (EN)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Evidências recuperadas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Retrieved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Proveniência da recuperação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Retrieval provenance (cascade step + query)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Critérios IPMP completos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Full IPMP criteria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Prompt completo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Full prompt (system + user)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Raciocínio do 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LLM reasoning (per expected product)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Flag de incerteza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Uncertainty flag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Pontuação proposta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1C1C1C"/>
                          </a:solidFill>
                        </a:rPr>
                        <a:t>Proposed score (0 / 1 /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7635240" y="3246120"/>
            <a:ext cx="4251960" cy="3429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337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Decisão do Auditor | Auditor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749039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FFFFFF"/>
                </a:solidFill>
              </a:rPr>
              <a:t>✓  Aceitar a pontuação proposta
     Accept proposed score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FFFFFF"/>
                </a:solidFill>
              </a:rPr>
              <a:t>↔  Substituir com nova pontuação
     Override with new score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FFFFFF"/>
                </a:solidFill>
              </a:rPr>
              <a:t>    + justificativa obrigatória
     + mandatory justification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FFFFFF"/>
                </a:solidFill>
              </a:rPr>
              <a:t>Score final sempre do auditor.
Final score always the auditor's.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CCCCCC"/>
                </a:solidFill>
              </a:rPr>
              <a:t>5  Auditor | Workflow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400">
                <a:solidFill>
                  <a:srgbClr val="FFFFFF"/>
                </a:solidFill>
              </a:rPr>
              <a:t>Estado Atual da Implementação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400">
                <a:solidFill>
                  <a:srgbClr val="D0E4F7"/>
                </a:solidFill>
              </a:rPr>
              <a:t>Current Implementation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2743200" cy="128016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360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6479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900">
                <a:solidFill>
                  <a:srgbClr val="FFFFFF"/>
                </a:solidFill>
              </a:rPr>
              <a:t>Módulos
concluídos  |  Completed
modules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143000"/>
            <a:ext cx="2743200" cy="128016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1887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3600">
                <a:solidFill>
                  <a:srgbClr val="FFFFFF"/>
                </a:solidFill>
              </a:rPr>
              <a:t>300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76479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900">
                <a:solidFill>
                  <a:srgbClr val="FFFFFF"/>
                </a:solidFill>
              </a:rPr>
              <a:t>Testes
passando  |  Tests
passing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143000"/>
            <a:ext cx="2743200" cy="128016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1887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3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76479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900">
                <a:solidFill>
                  <a:srgbClr val="FFFFFF"/>
                </a:solidFill>
              </a:rPr>
              <a:t>Ação IPMP
implementada  |  IPMP Action
implemented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98280" y="1143000"/>
            <a:ext cx="2743200" cy="128016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9720" y="11887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3600">
                <a:solidFill>
                  <a:srgbClr val="FFFFFF"/>
                </a:solidFill>
              </a:rPr>
              <a:t>E2E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176479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900">
                <a:solidFill>
                  <a:srgbClr val="FFFFFF"/>
                </a:solidFill>
              </a:rPr>
              <a:t>Fluxo ponta-a-ponta
funcional  |  End-to-end
pipeline functional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26060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A3A5C"/>
                </a:solidFill>
              </a:rPr>
              <a:t>O que foi observado | What was observed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2971800"/>
            <a:ext cx="5577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Smoke test com documento M5D real: parse_failed=True (score não produzido)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Causa: 57.000 chars de evidência → janela de contexto Ollama esgotada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Correção: num_ctx=32768 + cap de 20k chars com prioridade de cascata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Fix A1: BM25 ignorava 25 termos curados do Rio Manual → corrigido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Smoke test with real M5D document: parse_failed=True (score not produced)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Cause: 57,000 chars evidence → Ollama context window exhausted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Fix: num_ctx=32768 + 20k char cap with cascade priority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Fix A1: BM25 was ignoring 25 curated Rio Manual terms → corrected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6060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A3A5C"/>
                </a:solidFill>
              </a:rPr>
              <a:t>Limitações atuais | Current limitations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5760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Escopo: Ação 1 apenas (45 ações pendentes)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Modelo: apenas Mistral (Ollama); sem comparação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Validação: corpus sintético apenas; real-world pendente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Frontend funcional, não validado com usuários reais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──────────────────────────────────────────────────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Scope: Action 1 only (45 actions pending)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Model: Mistral (Ollama) only; no comparison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Validation: synthetic corpus only; real-world pending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C1C1C"/>
                </a:solidFill>
              </a:rPr>
              <a:t>▸  Frontend functional, not validated with real users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CCCCCC"/>
                </a:solidFill>
              </a:rPr>
              <a:t>6  Estado Atual | Current State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400">
                <a:solidFill>
                  <a:srgbClr val="FFFFFF"/>
                </a:solidFill>
              </a:rPr>
              <a:t>Validação Phase A — Cadeia de Raciocínio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400">
                <a:solidFill>
                  <a:srgbClr val="D0E4F7"/>
                </a:solidFill>
              </a:rPr>
              <a:t>Phase A Validation — Reasoning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1430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2E6DA4"/>
                </a:solidFill>
              </a:rPr>
              <a:t>Corpus sintético controlado com ground truth conhecido | Controlled synthetic corpus with known ground truth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55448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383280"/>
                <a:gridCol w="3840480"/>
                <a:gridCol w="2743200"/>
              </a:tblGrid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</a:rPr>
                        <a:t>Estágio | Stage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</a:rPr>
                        <a:t>Achado (PT) | Finding (PT)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</a:rPr>
                        <a:t>Achado (EN) | Finding (EN)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</a:rPr>
                        <a:t>Confiança | Confidence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b="1" sz="1000">
                          <a:solidFill>
                            <a:srgbClr val="1C1C1C"/>
                          </a:solidFill>
                        </a:rPr>
                        <a:t>A1  Retrieval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1C1C1C"/>
                          </a:solidFill>
                        </a:rPr>
                        <a:t>BM25 usava apenas termos genéricos IPMP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1C1C1C"/>
                          </a:solidFill>
                        </a:rPr>
                        <a:t>BM25 only used generic IPMP terms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Média | Medium</a:t>
                      </a:r>
                    </a:p>
                  </a:txBody>
                  <a:tcPr>
                    <a:solidFill>
                      <a:srgbClr val="E65C00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b="1" sz="1000">
                          <a:solidFill>
                            <a:srgbClr val="1C1C1C"/>
                          </a:solidFill>
                        </a:rPr>
                        <a:t>A3  Chunk Coverage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1C1C1C"/>
                          </a:solidFill>
                        </a:rPr>
                        <a:t>Score3: 4/4 páginas recuperadas via BM25
(3 via rio_hints; 1 via produto 1b)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1C1C1C"/>
                          </a:solidFill>
                        </a:rPr>
                        <a:t>Score3: 4/4 pages via BM25
(3 via rio_hints; 1 via product 1b)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Média | Medium</a:t>
                      </a:r>
                    </a:p>
                  </a:txBody>
                  <a:tcPr>
                    <a:solidFill>
                      <a:srgbClr val="E65C00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b="1" sz="1000">
                          <a:solidFill>
                            <a:srgbClr val="1C1C1C"/>
                          </a:solidFill>
                        </a:rPr>
                        <a:t>A4  Prompt
+ Reasoning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1C1C1C"/>
                          </a:solidFill>
                        </a:rPr>
                        <a:t>Score3 → proposto=3 ✓
parse_failed=False, uncertainty=False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1C1C1C"/>
                          </a:solidFill>
                        </a:rPr>
                        <a:t>Score3 → proposed=3 ✓
parse_failed=False, uncertainty=False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Média | Medium</a:t>
                      </a:r>
                    </a:p>
                  </a:txBody>
                  <a:tcPr>
                    <a:solidFill>
                      <a:srgbClr val="E65C00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b="1" sz="1000">
                          <a:solidFill>
                            <a:srgbClr val="1C1C1C"/>
                          </a:solidFill>
                        </a:rPr>
                        <a:t>A4  Model
Comparison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1C1C1C"/>
                          </a:solidFill>
                        </a:rPr>
                        <a:t>Apenas Mistral (Ollama) testado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1C1C1C"/>
                          </a:solidFill>
                        </a:rPr>
                        <a:t>Only Mistral (Ollama) tested</a:t>
                      </a:r>
                    </a:p>
                  </a:txBody>
                  <a:tcPr>
                    <a:solidFill>
                      <a:srgbClr val="D0E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Desconhecida | Unknown</a:t>
                      </a:r>
                    </a:p>
                  </a:txBody>
                  <a:tcPr>
                    <a:solidFill>
                      <a:srgbClr val="C6282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6263640"/>
            <a:ext cx="128016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3093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FFFFFF"/>
                </a:solidFill>
              </a:rPr>
              <a:t>Alta | High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6263640"/>
            <a:ext cx="128016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63093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FFFFFF"/>
                </a:solidFill>
              </a:rPr>
              <a:t>Média | Medium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6263640"/>
            <a:ext cx="1280160" cy="3657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63240" y="63093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FFFFFF"/>
                </a:solidFill>
              </a:rPr>
              <a:t>Baixa / Desconhecida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CCCCCC"/>
                </a:solidFill>
              </a:rPr>
              <a:t>7  Validação | Validation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400">
                <a:solidFill>
                  <a:srgbClr val="FFFFFF"/>
                </a:solidFill>
              </a:rPr>
              <a:t>Cadeia de Raciocínio — Confiança por Estágio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400">
                <a:solidFill>
                  <a:srgbClr val="D0E4F7"/>
                </a:solidFill>
              </a:rPr>
              <a:t>Reasoning Chain — Confidence per Stage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2651760" cy="5212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2651760" cy="8229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307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Estágio 1
Retrieval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67335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Stage 1
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148840"/>
            <a:ext cx="2423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C1C1C"/>
                </a:solidFill>
              </a:rPr>
              <a:t>BM25 + hints Rio Manual
funciona no corpus controlado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383280"/>
            <a:ext cx="11640312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3474720"/>
            <a:ext cx="2423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2E6DA4"/>
                </a:solidFill>
              </a:rPr>
              <a:t>BM25 + Rio Manual hints
works on controlled corpus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" y="4800600"/>
            <a:ext cx="2423160" cy="13716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512064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234440"/>
            <a:ext cx="2651760" cy="5212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0" y="1234440"/>
            <a:ext cx="2651760" cy="8229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0128" y="1307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Estágio 2
Cobertura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0128" y="167335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Stage 2
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2148840"/>
            <a:ext cx="2423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C1C1C"/>
                </a:solidFill>
              </a:rPr>
              <a:t>Corpus sintético cobre 1a–1d explicitamente;
documentos reais são implícitos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83280"/>
            <a:ext cx="11640312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10128" y="3474720"/>
            <a:ext cx="2423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2E6DA4"/>
                </a:solidFill>
              </a:rPr>
              <a:t>Synthetic corpus covers 1a–1d explicitly;
real documents use implicit language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0128" y="4800600"/>
            <a:ext cx="2423160" cy="13716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10128" y="512064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BAIXA
para docs reais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1234440"/>
            <a:ext cx="2651760" cy="5212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80760" y="1234440"/>
            <a:ext cx="2651760" cy="8229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0488" y="1307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Estágio 3
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0488" y="167335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Stage 3
Prompt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0488" y="2148840"/>
            <a:ext cx="2423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C1C1C"/>
                </a:solidFill>
              </a:rPr>
              <a:t>Raciocínio correto em Score3 e Score1;
casos ambíguos não testados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383280"/>
            <a:ext cx="11640312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90488" y="3474720"/>
            <a:ext cx="2423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2E6DA4"/>
                </a:solidFill>
              </a:rPr>
              <a:t>Correct reasoning on Score3 and Score1;
ambiguous cases not tested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0488" y="4800600"/>
            <a:ext cx="2423160" cy="13716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0488" y="512064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61120" y="1234440"/>
            <a:ext cx="2651760" cy="5212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61120" y="1234440"/>
            <a:ext cx="2651760" cy="8229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70848" y="1307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Estágio 4
Modelo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70848" y="167335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Stage 4
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70848" y="2148840"/>
            <a:ext cx="2423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C1C1C"/>
                </a:solidFill>
              </a:rPr>
              <a:t>Apenas Mistral testado;
comparação com outros modelos pendente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383280"/>
            <a:ext cx="11640312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70848" y="3474720"/>
            <a:ext cx="2423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2E6DA4"/>
                </a:solidFill>
              </a:rPr>
              <a:t>Only Mistral tested;
comparison with other models pending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70848" y="4800600"/>
            <a:ext cx="2423160" cy="13716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70848" y="512064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DESCONHECIDA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CCCCCC"/>
                </a:solidFill>
              </a:rPr>
              <a:t>7  Validação | Validation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400">
                <a:solidFill>
                  <a:srgbClr val="FFFFFF"/>
                </a:solidFill>
              </a:rPr>
              <a:t>Roteiro de Melhoria — Dirigido por Lacunas de Confiança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400">
                <a:solidFill>
                  <a:srgbClr val="D0E4F7"/>
                </a:solidFill>
              </a:rPr>
              <a:t>Improvement Roadmap — Driven by Confidence Gaps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356616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3566160" cy="10515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C9A02B"/>
                </a:solidFill>
              </a:rPr>
              <a:t>Phase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6276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Validação da cadeia
de raciocínio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938528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Reasoning chain
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359152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1C1C1C"/>
                </a:solidFill>
              </a:rPr>
              <a:t>▸  A1 Fix BM25 + Rio Manual hints  ✓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C1C1C"/>
                </a:solidFill>
              </a:rPr>
              <a:t>▸  A2 Corpus sintético  ✓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C1C1C"/>
                </a:solidFill>
              </a:rPr>
              <a:t>▸  A3 Retrieval quality  ✓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C1C1C"/>
                </a:solidFill>
              </a:rPr>
              <a:t>▸  A4 Prompt quality  ✓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C1C1C"/>
                </a:solidFill>
              </a:rPr>
              <a:t>▸  A5 Slides + narrativa  ← aqui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" y="5394960"/>
            <a:ext cx="3337560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550468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Jun 2026  |  CONCLUÍDA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4528" y="1188720"/>
            <a:ext cx="356616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188720"/>
            <a:ext cx="3566160" cy="10515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4256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C9A02B"/>
                </a:solidFill>
              </a:rPr>
              <a:t>Phase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4256" y="16276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Validação com
documento real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4256" y="1938528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Real-document
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4256" y="2359152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1C1C1C"/>
                </a:solidFill>
              </a:rPr>
              <a:t>▸  B1 Obter processo PPP completo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C1C1C"/>
                </a:solidFill>
              </a:rPr>
              <a:t>▸  B2 Avaliar Ação 1 no real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C1C1C"/>
                </a:solidFill>
              </a:rPr>
              <a:t>▸  B3 Revisão do auditor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C1C1C"/>
                </a:solidFill>
              </a:rPr>
              <a:t>▸  B4 Comparação de modelos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4256" y="5394960"/>
            <a:ext cx="3337560" cy="6858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4256" y="550468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Jul 2026  |  Pendente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9016" y="1188720"/>
            <a:ext cx="356616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29016" y="1188720"/>
            <a:ext cx="3566160" cy="10515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38744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C9A02B"/>
                </a:solidFill>
              </a:rPr>
              <a:t>Phase 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8744" y="16276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Backlog de
melhoria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8744" y="1938528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D0E4F7"/>
                </a:solidFill>
              </a:rPr>
              <a:t>Improvement
backlog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8744" y="2359152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1C1C1C"/>
                </a:solidFill>
              </a:rPr>
              <a:t>▸  Extensão: 45 ações restantes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C1C1C"/>
                </a:solidFill>
              </a:rPr>
              <a:t>▸  Validação frontend c/ usuários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C1C1C"/>
                </a:solidFill>
              </a:rPr>
              <a:t>▸  Benchmarks de performance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C1C1C"/>
                </a:solidFill>
              </a:rPr>
              <a:t>▸  Consistência entre avaliações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38744" y="5394960"/>
            <a:ext cx="3337560" cy="6858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38744" y="550468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Não agendado  |  Após Phase 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CCCCCC"/>
                </a:solidFill>
              </a:rPr>
              <a:t>8  Roteiro | Roadmap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400">
                <a:solidFill>
                  <a:srgbClr val="FFFFFF"/>
                </a:solidFill>
              </a:rPr>
              <a:t>Próximos Passos |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400">
                <a:solidFill>
                  <a:srgbClr val="D0E4F7"/>
                </a:solidFill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1521440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000">
                <a:solidFill>
                  <a:srgbClr val="FFFFFF"/>
                </a:solidFill>
              </a:rPr>
              <a:t>Questão central: a cadeia de raciocínio é defensável com documentos reais?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190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300">
                <a:solidFill>
                  <a:srgbClr val="D0E4F7"/>
                </a:solidFill>
              </a:rPr>
              <a:t>Central question: is the reasoning chain defensible with real documents?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423160"/>
            <a:ext cx="265176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423160"/>
            <a:ext cx="502920" cy="3474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3794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B1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06040"/>
            <a:ext cx="1920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1C1C1C"/>
                </a:solidFill>
              </a:rPr>
              <a:t>Obter processo PPP real completo
Obtain a complete real PPP process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977640"/>
            <a:ext cx="11640312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2E6DA4"/>
                </a:solidFill>
              </a:rPr>
              <a:t>Acesso ao acervo municipal
Access to municipal archive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2423160"/>
            <a:ext cx="265176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46120" y="2423160"/>
            <a:ext cx="502920" cy="3474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9272" y="3794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B2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606040"/>
            <a:ext cx="1920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1C1C1C"/>
                </a:solidFill>
              </a:rPr>
              <a:t>Avaliar Ação 1 no processo real
Evaluate Action 1 on real process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977640"/>
            <a:ext cx="11640312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0" y="4114800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2E6DA4"/>
                </a:solidFill>
              </a:rPr>
              <a:t>Comparar retrieval real vs. sintético
Compare real vs. synthetic retrieval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2423160"/>
            <a:ext cx="265176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2423160"/>
            <a:ext cx="502920" cy="3474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5352" y="3794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B3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606040"/>
            <a:ext cx="1920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1C1C1C"/>
                </a:solidFill>
              </a:rPr>
              <a:t>Revisão do auditor no resultado real
Auditor review of real result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977640"/>
            <a:ext cx="11640312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4114800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2E6DA4"/>
                </a:solidFill>
              </a:rPr>
              <a:t>Identificar padrões de substituição
Identify override patterns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98280" y="2423160"/>
            <a:ext cx="265176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98280" y="2423160"/>
            <a:ext cx="502920" cy="3474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71432" y="3794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B4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2606040"/>
            <a:ext cx="1920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1C1C1C"/>
                </a:solidFill>
              </a:rPr>
              <a:t>Comparar Mistral vs. Groq
Compare Mistral vs. Groq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977640"/>
            <a:ext cx="11640312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92640" y="4114800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2E6DA4"/>
                </a:solidFill>
              </a:rPr>
              <a:t>Avaliar consistência e qualidade
Assess consistency and quality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6035040"/>
            <a:ext cx="11521440" cy="5943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1081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200">
                <a:solidFill>
                  <a:srgbClr val="FFFFFF"/>
                </a:solidFill>
              </a:rPr>
              <a:t>Repositório: github.com/Sjacuru/Maturity_Check  ·  Contato: sjacuru@gmail.com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CCCCCC"/>
                </a:solidFill>
              </a:rPr>
              <a:t>8  Roteiro | Roadmap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