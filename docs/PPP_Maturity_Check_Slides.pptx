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815240"/>
            <a:ext cx="12188952" cy="54864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PPP Maturity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0E4F7"/>
                </a:solidFill>
              </a:rPr>
              <a:t>Sistema de Suporte à Decisão para Avaliação de Maturidade de PPPs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0E4F7"/>
                </a:solidFill>
              </a:rPr>
              <a:t>Decision-Support System for PPP Maturity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CCCCCC"/>
                </a:solidFill>
              </a:rPr>
              <a:t>Salim Jacuru  ·  </a:t>
            </a:r>
            <a:r>
              <a:rPr sz="1200" b="0" i="0" dirty="0" smtClean="0">
                <a:solidFill>
                  <a:srgbClr val="CCCCCC"/>
                </a:solidFill>
              </a:rPr>
              <a:t>sjacuru@gmail.com</a:t>
            </a:r>
            <a:r>
              <a:rPr lang="pt-BR" sz="1200" b="0" i="0" dirty="0" smtClean="0">
                <a:solidFill>
                  <a:srgbClr val="CCCCCC"/>
                </a:solidFill>
              </a:rPr>
              <a:t> </a:t>
            </a:r>
            <a:r>
              <a:rPr sz="1200" b="0" i="0" dirty="0" smtClean="0">
                <a:solidFill>
                  <a:srgbClr val="CCCCCC"/>
                </a:solidFill>
              </a:rPr>
              <a:t>  </a:t>
            </a:r>
            <a:r>
              <a:rPr sz="1200" b="0" i="0" dirty="0">
                <a:solidFill>
                  <a:srgbClr val="CCCCCC"/>
                </a:solidFill>
              </a:rPr>
              <a:t>·  </a:t>
            </a:r>
            <a:r>
              <a:rPr sz="1200" b="0" i="0" dirty="0" err="1">
                <a:solidFill>
                  <a:srgbClr val="CCCCCC"/>
                </a:solidFill>
              </a:rPr>
              <a:t>Junho</a:t>
            </a:r>
            <a:r>
              <a:rPr sz="1200" b="0" i="0" dirty="0">
                <a:solidFill>
                  <a:srgbClr val="CCCCCC"/>
                </a:solidFill>
              </a:rPr>
              <a:t>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94960"/>
            <a:ext cx="10058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CCCCCC"/>
                </a:solidFill>
              </a:rPr>
              <a:t>Framework IPMP (</a:t>
            </a:r>
            <a:r>
              <a:rPr sz="1100" b="0" i="0" dirty="0" smtClean="0">
                <a:solidFill>
                  <a:srgbClr val="CCCCCC"/>
                </a:solidFill>
              </a:rPr>
              <a:t>TC</a:t>
            </a:r>
            <a:r>
              <a:rPr lang="pt-BR" sz="1100" b="0" i="0" dirty="0" err="1" smtClean="0">
                <a:solidFill>
                  <a:srgbClr val="CCCCCC"/>
                </a:solidFill>
              </a:rPr>
              <a:t>MRio</a:t>
            </a:r>
            <a:r>
              <a:rPr sz="1100" b="0" i="0" dirty="0" smtClean="0">
                <a:solidFill>
                  <a:srgbClr val="CCCCCC"/>
                </a:solidFill>
              </a:rPr>
              <a:t> </a:t>
            </a:r>
            <a:r>
              <a:rPr sz="1100" b="0" i="0" dirty="0">
                <a:solidFill>
                  <a:srgbClr val="CCCCCC"/>
                </a:solidFill>
              </a:rPr>
              <a:t>2026)  ·  46 </a:t>
            </a:r>
            <a:r>
              <a:rPr sz="1100" b="0" i="0" dirty="0" err="1">
                <a:solidFill>
                  <a:srgbClr val="CCCCCC"/>
                </a:solidFill>
              </a:rPr>
              <a:t>Ações</a:t>
            </a:r>
            <a:r>
              <a:rPr sz="1100" b="0" i="0" dirty="0">
                <a:solidFill>
                  <a:srgbClr val="CCCCCC"/>
                </a:solidFill>
              </a:rPr>
              <a:t>  ·  5 </a:t>
            </a:r>
            <a:r>
              <a:rPr sz="1100" b="0" i="0" dirty="0" err="1">
                <a:solidFill>
                  <a:srgbClr val="CCCCCC"/>
                </a:solidFill>
              </a:rPr>
              <a:t>Dimensões</a:t>
            </a:r>
            <a:r>
              <a:rPr sz="1100" b="0" i="0" dirty="0">
                <a:solidFill>
                  <a:srgbClr val="CCCCCC"/>
                </a:solidFill>
              </a:rPr>
              <a:t>  ·  </a:t>
            </a:r>
            <a:r>
              <a:rPr sz="1100" b="0" i="0" dirty="0" err="1">
                <a:solidFill>
                  <a:srgbClr val="CCCCCC"/>
                </a:solidFill>
              </a:rPr>
              <a:t>Município</a:t>
            </a:r>
            <a:r>
              <a:rPr sz="1100" b="0" i="0" dirty="0">
                <a:solidFill>
                  <a:srgbClr val="CCCCCC"/>
                </a:solidFill>
              </a:rPr>
              <a:t> do Rio de Janeiro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Estrutura da Apresentação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</a:rPr>
              <a:t>Presentation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5648" y="1230282"/>
            <a:ext cx="2834640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2808" y="136744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  Problema e 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808" y="182464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E4F7"/>
                </a:solidFill>
              </a:rPr>
              <a:t>Problem and 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4880" y="1230282"/>
            <a:ext cx="2834640" cy="1188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22040" y="136744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  A Solução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2040" y="182464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E4F7"/>
                </a:solidFill>
              </a:rPr>
              <a:t>The 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4112" y="1230282"/>
            <a:ext cx="2834640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1272" y="136744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  Arquitetura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1272" y="182464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E4F7"/>
                </a:solidFill>
              </a:rPr>
              <a:t>Architecture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3344" y="1230282"/>
            <a:ext cx="2834640" cy="1188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0504" y="136744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4  Módulos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0504" y="182464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E4F7"/>
                </a:solidFill>
              </a:rPr>
              <a:t>Modules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5648" y="2583594"/>
            <a:ext cx="2834640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2808" y="272075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5  Fluxo do Auditor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2808" y="317795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E4F7"/>
                </a:solidFill>
              </a:rPr>
              <a:t>Auditor Workflow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84880" y="2583594"/>
            <a:ext cx="2834640" cy="1188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22040" y="272075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6  Estado Atual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2040" y="317795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E4F7"/>
                </a:solidFill>
              </a:rPr>
              <a:t>Current 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4112" y="2583594"/>
            <a:ext cx="2834640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1272" y="272075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7  Validação (Phase 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1272" y="317795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E4F7"/>
                </a:solidFill>
              </a:rPr>
              <a:t>Validation (Phase 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3344" y="2583594"/>
            <a:ext cx="2834640" cy="1188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0504" y="272075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8  Roteiro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0504" y="317795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E4F7"/>
                </a:solidFill>
              </a:rPr>
              <a:t>Roadmap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Estrutura |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 Problema: avaliação de maturidade de projetos PPP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</a:rPr>
              <a:t>The Problem: maturity assessment of PPP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566160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56616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307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20"/>
            <a:ext cx="329184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300" b="0" i="0" dirty="0" err="1">
                <a:solidFill>
                  <a:srgbClr val="1C1C1C"/>
                </a:solidFill>
              </a:rPr>
              <a:t>Dezenas</a:t>
            </a:r>
            <a:r>
              <a:rPr sz="1300" b="0" i="0" dirty="0">
                <a:solidFill>
                  <a:srgbClr val="1C1C1C"/>
                </a:solidFill>
              </a:rPr>
              <a:t> de </a:t>
            </a:r>
            <a:r>
              <a:rPr sz="1300" b="0" i="0" dirty="0" err="1">
                <a:solidFill>
                  <a:srgbClr val="1C1C1C"/>
                </a:solidFill>
              </a:rPr>
              <a:t>documentos</a:t>
            </a:r>
            <a:r>
              <a:rPr sz="1300" b="0" i="0" dirty="0">
                <a:solidFill>
                  <a:srgbClr val="1C1C1C"/>
                </a:solidFill>
              </a:rPr>
              <a:t>, </a:t>
            </a:r>
            <a:r>
              <a:rPr sz="1300" b="0" i="0" dirty="0" err="1">
                <a:solidFill>
                  <a:srgbClr val="1C1C1C"/>
                </a:solidFill>
              </a:rPr>
              <a:t>centenas</a:t>
            </a:r>
            <a:r>
              <a:rPr sz="1300" b="0" i="0" dirty="0">
                <a:solidFill>
                  <a:srgbClr val="1C1C1C"/>
                </a:solidFill>
              </a:rPr>
              <a:t> de </a:t>
            </a:r>
            <a:r>
              <a:rPr sz="1300" b="0" i="0" dirty="0" err="1">
                <a:solidFill>
                  <a:srgbClr val="1C1C1C"/>
                </a:solidFill>
              </a:rPr>
              <a:t>páginas</a:t>
            </a:r>
            <a:r>
              <a:rPr sz="1300" b="0" i="0" dirty="0">
                <a:solidFill>
                  <a:srgbClr val="1C1C1C"/>
                </a:solidFill>
              </a:rPr>
              <a:t> </a:t>
            </a:r>
            <a:r>
              <a:rPr sz="1300" b="0" i="0" dirty="0" err="1">
                <a:solidFill>
                  <a:srgbClr val="1C1C1C"/>
                </a:solidFill>
              </a:rPr>
              <a:t>por</a:t>
            </a:r>
            <a:r>
              <a:rPr sz="1300" b="0" i="0" dirty="0">
                <a:solidFill>
                  <a:srgbClr val="1C1C1C"/>
                </a:solidFill>
              </a:rPr>
              <a:t> </a:t>
            </a:r>
            <a:r>
              <a:rPr sz="1300" b="0" i="0" dirty="0" err="1" smtClean="0">
                <a:solidFill>
                  <a:srgbClr val="1C1C1C"/>
                </a:solidFill>
              </a:rPr>
              <a:t>processo</a:t>
            </a:r>
            <a:r>
              <a:rPr lang="pt-BR" sz="1300" b="0" i="0" dirty="0" smtClean="0">
                <a:solidFill>
                  <a:srgbClr val="1C1C1C"/>
                </a:solidFill>
              </a:rPr>
              <a:t> que devem ser internalizadas em sistema e extraídas para serem adequadamente analisadas por uma LLM </a:t>
            </a:r>
            <a:endParaRPr sz="1300" b="0" i="0" dirty="0">
              <a:solidFill>
                <a:srgbClr val="1C1C1C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" y="3611880"/>
            <a:ext cx="1164031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E6DA4"/>
                </a:solidFill>
              </a:rPr>
              <a:t>Dozens of documents, hundreds of pages per process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87952" y="1234440"/>
            <a:ext cx="3566160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87952" y="1234440"/>
            <a:ext cx="356616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1307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Subjetividade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1874520"/>
            <a:ext cx="32918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300" b="0" i="0" dirty="0" err="1">
                <a:solidFill>
                  <a:srgbClr val="1C1C1C"/>
                </a:solidFill>
              </a:rPr>
              <a:t>Avaliadores</a:t>
            </a:r>
            <a:r>
              <a:rPr sz="1300" b="0" i="0" dirty="0">
                <a:solidFill>
                  <a:srgbClr val="1C1C1C"/>
                </a:solidFill>
              </a:rPr>
              <a:t> </a:t>
            </a:r>
            <a:r>
              <a:rPr sz="1300" b="0" i="0" dirty="0" err="1">
                <a:solidFill>
                  <a:srgbClr val="1C1C1C"/>
                </a:solidFill>
              </a:rPr>
              <a:t>diferentes</a:t>
            </a:r>
            <a:r>
              <a:rPr sz="1300" b="0" i="0" dirty="0">
                <a:solidFill>
                  <a:srgbClr val="1C1C1C"/>
                </a:solidFill>
              </a:rPr>
              <a:t> → scores </a:t>
            </a:r>
            <a:r>
              <a:rPr sz="1300" b="0" i="0" dirty="0" err="1">
                <a:solidFill>
                  <a:srgbClr val="1C1C1C"/>
                </a:solidFill>
              </a:rPr>
              <a:t>diferentes</a:t>
            </a:r>
            <a:r>
              <a:rPr sz="1300" b="0" i="0" dirty="0">
                <a:solidFill>
                  <a:srgbClr val="1C1C1C"/>
                </a:solidFill>
              </a:rPr>
              <a:t> </a:t>
            </a:r>
            <a:r>
              <a:rPr sz="1300" b="0" i="0" dirty="0" err="1">
                <a:solidFill>
                  <a:srgbClr val="1C1C1C"/>
                </a:solidFill>
              </a:rPr>
              <a:t>sem</a:t>
            </a:r>
            <a:r>
              <a:rPr sz="1300" b="0" i="0" dirty="0">
                <a:solidFill>
                  <a:srgbClr val="1C1C1C"/>
                </a:solidFill>
              </a:rPr>
              <a:t> </a:t>
            </a:r>
            <a:r>
              <a:rPr sz="1300" b="0" i="0" dirty="0" err="1">
                <a:solidFill>
                  <a:srgbClr val="1C1C1C"/>
                </a:solidFill>
              </a:rPr>
              <a:t>rastreabilidade</a:t>
            </a:r>
            <a:endParaRPr sz="1300" b="0" i="0" dirty="0">
              <a:solidFill>
                <a:srgbClr val="1C1C1C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4320" y="3611880"/>
            <a:ext cx="1164031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25112" y="37033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E6DA4"/>
                </a:solidFill>
              </a:rPr>
              <a:t>Different evaluators → different scores without traceability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0144" y="1234440"/>
            <a:ext cx="3566160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10144" y="1234440"/>
            <a:ext cx="356616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19872" y="1307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Reprodutibilidade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1874520"/>
            <a:ext cx="329184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300" b="0" i="0" dirty="0" err="1">
                <a:solidFill>
                  <a:srgbClr val="1C1C1C"/>
                </a:solidFill>
              </a:rPr>
              <a:t>Requisito</a:t>
            </a:r>
            <a:r>
              <a:rPr sz="1300" b="0" i="0" dirty="0">
                <a:solidFill>
                  <a:srgbClr val="1C1C1C"/>
                </a:solidFill>
              </a:rPr>
              <a:t> </a:t>
            </a:r>
            <a:r>
              <a:rPr sz="1300" b="0" i="0" dirty="0" err="1" smtClean="0">
                <a:solidFill>
                  <a:srgbClr val="1C1C1C"/>
                </a:solidFill>
              </a:rPr>
              <a:t>acadêmico</a:t>
            </a:r>
            <a:r>
              <a:rPr lang="pt-BR" sz="1300" dirty="0">
                <a:solidFill>
                  <a:srgbClr val="1C1C1C"/>
                </a:solidFill>
              </a:rPr>
              <a:t> </a:t>
            </a:r>
            <a:r>
              <a:rPr lang="pt-BR" sz="1300" dirty="0" smtClean="0">
                <a:solidFill>
                  <a:srgbClr val="1C1C1C"/>
                </a:solidFill>
              </a:rPr>
              <a:t>de </a:t>
            </a:r>
            <a:r>
              <a:rPr lang="pt-BR" sz="1300" dirty="0" err="1" smtClean="0">
                <a:solidFill>
                  <a:srgbClr val="1C1C1C"/>
                </a:solidFill>
              </a:rPr>
              <a:t>seguraça</a:t>
            </a:r>
            <a:r>
              <a:rPr sz="1300" b="0" i="0" dirty="0" smtClean="0">
                <a:solidFill>
                  <a:srgbClr val="1C1C1C"/>
                </a:solidFill>
              </a:rPr>
              <a:t>: </a:t>
            </a:r>
            <a:r>
              <a:rPr sz="1300" b="0" i="0" dirty="0" err="1">
                <a:solidFill>
                  <a:srgbClr val="1C1C1C"/>
                </a:solidFill>
              </a:rPr>
              <a:t>mesma</a:t>
            </a:r>
            <a:r>
              <a:rPr sz="1300" b="0" i="0" dirty="0">
                <a:solidFill>
                  <a:srgbClr val="1C1C1C"/>
                </a:solidFill>
              </a:rPr>
              <a:t> entrada </a:t>
            </a:r>
            <a:r>
              <a:rPr sz="1300" b="0" i="0" dirty="0" err="1">
                <a:solidFill>
                  <a:srgbClr val="1C1C1C"/>
                </a:solidFill>
              </a:rPr>
              <a:t>deve</a:t>
            </a:r>
            <a:r>
              <a:rPr sz="1300" b="0" i="0" dirty="0">
                <a:solidFill>
                  <a:srgbClr val="1C1C1C"/>
                </a:solidFill>
              </a:rPr>
              <a:t> </a:t>
            </a:r>
            <a:r>
              <a:rPr sz="1300" b="0" i="0" dirty="0" err="1">
                <a:solidFill>
                  <a:srgbClr val="1C1C1C"/>
                </a:solidFill>
              </a:rPr>
              <a:t>gerar</a:t>
            </a:r>
            <a:r>
              <a:rPr sz="1300" b="0" i="0" dirty="0">
                <a:solidFill>
                  <a:srgbClr val="1C1C1C"/>
                </a:solidFill>
              </a:rPr>
              <a:t> </a:t>
            </a:r>
            <a:r>
              <a:rPr sz="1300" b="0" i="0" dirty="0" err="1">
                <a:solidFill>
                  <a:srgbClr val="1C1C1C"/>
                </a:solidFill>
              </a:rPr>
              <a:t>mesmo</a:t>
            </a:r>
            <a:r>
              <a:rPr sz="1300" b="0" i="0" dirty="0">
                <a:solidFill>
                  <a:srgbClr val="1C1C1C"/>
                </a:solidFill>
              </a:rPr>
              <a:t> </a:t>
            </a:r>
            <a:r>
              <a:rPr sz="1300" b="0" i="0" dirty="0" err="1" smtClean="0">
                <a:solidFill>
                  <a:srgbClr val="1C1C1C"/>
                </a:solidFill>
              </a:rPr>
              <a:t>resultado</a:t>
            </a:r>
            <a:r>
              <a:rPr lang="pt-BR" sz="1300" b="0" i="0" dirty="0" smtClean="0">
                <a:solidFill>
                  <a:srgbClr val="1C1C1C"/>
                </a:solidFill>
              </a:rPr>
              <a:t> ou resultado muito próximo se a entrada é a mesma.</a:t>
            </a:r>
            <a:endParaRPr sz="1300" b="0" i="0" dirty="0">
              <a:solidFill>
                <a:srgbClr val="1C1C1C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4320" y="3611880"/>
            <a:ext cx="1164031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47304" y="37033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E6DA4"/>
                </a:solidFill>
              </a:rPr>
              <a:t>Academic requirement: same input must produce same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1  Problema | Problem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 Framework IPMP — 46 Ações, 5 Dimensões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</a:rPr>
              <a:t>The IPMP Framework — 46 Actions, 5 Dimensions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685800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017520"/>
                <a:gridCol w="329184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Dimensão (PT)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Dimension (EN)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1C1C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1C1C"/>
                          </a:solidFill>
                        </a:rPr>
                        <a:t>Estratégica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1C1C"/>
                          </a:solidFill>
                        </a:rPr>
                        <a:t>Strategic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1C1C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1C1C"/>
                          </a:solidFill>
                        </a:rPr>
                        <a:t>Técnica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1C1C"/>
                          </a:solidFill>
                        </a:rPr>
                        <a:t>Technical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1C1C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1C1C"/>
                          </a:solidFill>
                        </a:rPr>
                        <a:t>Financeira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1C1C"/>
                          </a:solidFill>
                        </a:rPr>
                        <a:t>Financial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1C1C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1C1C"/>
                          </a:solidFill>
                        </a:rPr>
                        <a:t>Ambiental e Social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1C1C"/>
                          </a:solidFill>
                        </a:rPr>
                        <a:t>Environmental and Social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1C1C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1C1C"/>
                          </a:solidFill>
                        </a:rPr>
                        <a:t>Jurídica e Regulatória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1C1C"/>
                          </a:solidFill>
                        </a:rPr>
                        <a:t>Legal and Regulatory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498079" y="1188720"/>
            <a:ext cx="4297680" cy="24688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12801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Pontuação | 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502920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0" y="18562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8288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Não Atendido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029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4F7"/>
                </a:solidFill>
              </a:rPr>
              <a:t>Not Met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2350008"/>
            <a:ext cx="502920" cy="4572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0" y="2423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3957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Parcialmente Atendido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59689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4F7"/>
                </a:solidFill>
              </a:rPr>
              <a:t>Partially Met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2916936"/>
            <a:ext cx="5029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0" y="299008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96265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Atendido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16382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4F7"/>
                </a:solidFill>
              </a:rPr>
              <a:t>Met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3749039"/>
            <a:ext cx="4297680" cy="64008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37947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Pontuação máxima: 138 pts  (46 × 3)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06240"/>
            <a:ext cx="11430000" cy="640080"/>
          </a:xfrm>
          <a:prstGeom prst="rect">
            <a:avLst/>
          </a:prstGeom>
          <a:solidFill>
            <a:srgbClr val="D0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25196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1A3A5C"/>
                </a:solidFill>
              </a:rPr>
              <a:t>Escopo</a:t>
            </a:r>
            <a:r>
              <a:rPr sz="1200" b="0" i="0" dirty="0">
                <a:solidFill>
                  <a:srgbClr val="1A3A5C"/>
                </a:solidFill>
              </a:rPr>
              <a:t> Phase 1: </a:t>
            </a:r>
            <a:r>
              <a:rPr lang="pt-BR" sz="1200" b="0" i="0" dirty="0" smtClean="0">
                <a:solidFill>
                  <a:srgbClr val="1A3A5C"/>
                </a:solidFill>
              </a:rPr>
              <a:t>	</a:t>
            </a:r>
            <a:r>
              <a:rPr sz="1200" b="0" i="0" dirty="0" err="1" smtClean="0">
                <a:solidFill>
                  <a:srgbClr val="1A3A5C"/>
                </a:solidFill>
              </a:rPr>
              <a:t>Ação</a:t>
            </a:r>
            <a:r>
              <a:rPr sz="1200" b="0" i="0" dirty="0" smtClean="0">
                <a:solidFill>
                  <a:srgbClr val="1A3A5C"/>
                </a:solidFill>
              </a:rPr>
              <a:t> </a:t>
            </a:r>
            <a:r>
              <a:rPr sz="1200" b="0" i="0" dirty="0">
                <a:solidFill>
                  <a:srgbClr val="1A3A5C"/>
                </a:solidFill>
              </a:rPr>
              <a:t>1 </a:t>
            </a:r>
            <a:r>
              <a:rPr sz="1200" b="0" i="0" dirty="0" err="1">
                <a:solidFill>
                  <a:srgbClr val="1A3A5C"/>
                </a:solidFill>
              </a:rPr>
              <a:t>apenas</a:t>
            </a:r>
            <a:r>
              <a:rPr sz="1200" b="0" i="0" dirty="0">
                <a:solidFill>
                  <a:srgbClr val="1A3A5C"/>
                </a:solidFill>
              </a:rPr>
              <a:t> </a:t>
            </a:r>
            <a:r>
              <a:rPr sz="1200" b="0" i="0" dirty="0" smtClean="0">
                <a:solidFill>
                  <a:srgbClr val="1A3A5C"/>
                </a:solidFill>
              </a:rPr>
              <a:t>— </a:t>
            </a:r>
            <a:r>
              <a:rPr sz="1200" b="0" i="0" dirty="0">
                <a:solidFill>
                  <a:srgbClr val="1A3A5C"/>
                </a:solidFill>
              </a:rPr>
              <a:t>"</a:t>
            </a:r>
            <a:r>
              <a:rPr sz="1200" b="0" i="0" dirty="0" err="1">
                <a:solidFill>
                  <a:srgbClr val="1A3A5C"/>
                </a:solidFill>
              </a:rPr>
              <a:t>Descreva</a:t>
            </a:r>
            <a:r>
              <a:rPr sz="1200" b="0" i="0" dirty="0">
                <a:solidFill>
                  <a:srgbClr val="1A3A5C"/>
                </a:solidFill>
              </a:rPr>
              <a:t> o </a:t>
            </a:r>
            <a:r>
              <a:rPr sz="1200" b="0" i="0" dirty="0" err="1">
                <a:solidFill>
                  <a:srgbClr val="1A3A5C"/>
                </a:solidFill>
              </a:rPr>
              <a:t>projeto</a:t>
            </a:r>
            <a:r>
              <a:rPr sz="1200" b="0" i="0" dirty="0">
                <a:solidFill>
                  <a:srgbClr val="1A3A5C"/>
                </a:solidFill>
              </a:rPr>
              <a:t>, </a:t>
            </a:r>
            <a:r>
              <a:rPr sz="1200" b="0" i="0" dirty="0" err="1">
                <a:solidFill>
                  <a:srgbClr val="1A3A5C"/>
                </a:solidFill>
              </a:rPr>
              <a:t>seu</a:t>
            </a:r>
            <a:r>
              <a:rPr sz="1200" b="0" i="0" dirty="0">
                <a:solidFill>
                  <a:srgbClr val="1A3A5C"/>
                </a:solidFill>
              </a:rPr>
              <a:t> </a:t>
            </a:r>
            <a:r>
              <a:rPr sz="1200" b="0" i="0" dirty="0" err="1">
                <a:solidFill>
                  <a:srgbClr val="1A3A5C"/>
                </a:solidFill>
              </a:rPr>
              <a:t>contexto</a:t>
            </a:r>
            <a:r>
              <a:rPr sz="1200" b="0" i="0" dirty="0">
                <a:solidFill>
                  <a:srgbClr val="1A3A5C"/>
                </a:solidFill>
              </a:rPr>
              <a:t> e </a:t>
            </a:r>
            <a:r>
              <a:rPr sz="1200" b="0" i="0" dirty="0" err="1">
                <a:solidFill>
                  <a:srgbClr val="1A3A5C"/>
                </a:solidFill>
              </a:rPr>
              <a:t>os</a:t>
            </a:r>
            <a:r>
              <a:rPr sz="1200" b="0" i="0" dirty="0">
                <a:solidFill>
                  <a:srgbClr val="1A3A5C"/>
                </a:solidFill>
              </a:rPr>
              <a:t> </a:t>
            </a:r>
            <a:r>
              <a:rPr sz="1200" b="0" i="0" dirty="0" err="1">
                <a:solidFill>
                  <a:srgbClr val="1A3A5C"/>
                </a:solidFill>
              </a:rPr>
              <a:t>objetivos</a:t>
            </a:r>
            <a:r>
              <a:rPr sz="1200" b="0" i="0" dirty="0">
                <a:solidFill>
                  <a:srgbClr val="1A3A5C"/>
                </a:solidFill>
              </a:rPr>
              <a:t> </a:t>
            </a:r>
            <a:r>
              <a:rPr sz="1200" b="0" i="0" dirty="0" err="1">
                <a:solidFill>
                  <a:srgbClr val="1A3A5C"/>
                </a:solidFill>
              </a:rPr>
              <a:t>estratégicos</a:t>
            </a:r>
            <a:r>
              <a:rPr sz="1200" b="0" i="0" dirty="0">
                <a:solidFill>
                  <a:srgbClr val="1A3A5C"/>
                </a:solidFill>
              </a:rPr>
              <a:t>"  </a:t>
            </a:r>
            <a:endParaRPr lang="pt-BR" sz="1200" b="0" i="0" dirty="0" smtClean="0">
              <a:solidFill>
                <a:srgbClr val="1A3A5C"/>
              </a:solidFill>
            </a:endParaRPr>
          </a:p>
          <a:p>
            <a:pPr algn="l"/>
            <a:r>
              <a:rPr sz="1200" b="0" i="0" dirty="0" smtClean="0">
                <a:solidFill>
                  <a:srgbClr val="1A3A5C"/>
                </a:solidFill>
              </a:rPr>
              <a:t>Phase </a:t>
            </a:r>
            <a:r>
              <a:rPr sz="1200" b="0" i="0" dirty="0">
                <a:solidFill>
                  <a:srgbClr val="1A3A5C"/>
                </a:solidFill>
              </a:rPr>
              <a:t>1 scope: </a:t>
            </a:r>
            <a:r>
              <a:rPr lang="pt-BR" sz="1200" b="0" i="0" dirty="0" smtClean="0">
                <a:solidFill>
                  <a:srgbClr val="1A3A5C"/>
                </a:solidFill>
              </a:rPr>
              <a:t>	</a:t>
            </a:r>
            <a:r>
              <a:rPr sz="1200" b="0" i="0" dirty="0" smtClean="0">
                <a:solidFill>
                  <a:srgbClr val="1A3A5C"/>
                </a:solidFill>
              </a:rPr>
              <a:t>Action </a:t>
            </a:r>
            <a:r>
              <a:rPr sz="1200" b="0" i="0" dirty="0">
                <a:solidFill>
                  <a:srgbClr val="1A3A5C"/>
                </a:solidFill>
              </a:rPr>
              <a:t>1 only </a:t>
            </a:r>
            <a:r>
              <a:rPr lang="pt-BR" sz="1200" b="0" i="0" dirty="0" smtClean="0">
                <a:solidFill>
                  <a:srgbClr val="1A3A5C"/>
                </a:solidFill>
              </a:rPr>
              <a:t>	</a:t>
            </a:r>
            <a:r>
              <a:rPr sz="1200" b="0" i="0" dirty="0" smtClean="0">
                <a:solidFill>
                  <a:srgbClr val="1A3A5C"/>
                </a:solidFill>
              </a:rPr>
              <a:t>— </a:t>
            </a:r>
            <a:r>
              <a:rPr sz="1200" b="0" i="0" dirty="0">
                <a:solidFill>
                  <a:srgbClr val="1A3A5C"/>
                </a:solidFill>
              </a:rPr>
              <a:t>"Describe the project, its context, and strategic objectives"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1  Problema | Problem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 Solução: suporte à decisão, não substituição do auditor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</a:rPr>
              <a:t>The Solution: decision support, not auditor replacement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O sistema recupera evidências, raciocina e propõe uma pontuação.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E4F7"/>
                </a:solidFill>
              </a:rPr>
              <a:t>The system retrieves evidence, reasons, and proposes a score.  The auditor validates.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14600"/>
            <a:ext cx="256032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514600"/>
            <a:ext cx="2560320" cy="5303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02B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4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Recuperação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43784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4F7"/>
                </a:solidFill>
              </a:rPr>
              <a:t>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Localiza trechos
relevantes
no processo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617720"/>
            <a:ext cx="1164031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6DA4"/>
                </a:solidFill>
              </a:rPr>
              <a:t>Locates relevant
passages
in the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388620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6DA4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514600"/>
            <a:ext cx="256032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566160" y="2514600"/>
            <a:ext cx="2560320" cy="5303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66160" y="2606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02B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260604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Avaliação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2843784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4F7"/>
                </a:solidFill>
              </a:rPr>
              <a:t>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2004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LLM raciocina
sobre as evidências
com critérios IPMP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617720"/>
            <a:ext cx="1164031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03320" y="47091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6DA4"/>
                </a:solidFill>
              </a:rPr>
              <a:t>LLM reasons
about evidence
using IPMP criteria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388620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6DA4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2514600"/>
            <a:ext cx="256032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629400" y="2514600"/>
            <a:ext cx="2560320" cy="5303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2606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02B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60604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Apresentação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2843784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4F7"/>
                </a:solidFill>
              </a:rPr>
              <a:t>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2004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7 elementos do
pacote de evidências
para o auditor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617720"/>
            <a:ext cx="1164031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66560" y="47091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6DA4"/>
                </a:solidFill>
              </a:rPr>
              <a:t>7-element evidence
package for
the auditor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9448" y="388620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6DA4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92640" y="2514600"/>
            <a:ext cx="256032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692640" y="2514600"/>
            <a:ext cx="2560320" cy="5303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92640" y="2606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02B"/>
                </a:solidFill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260604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Validação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2843784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4F7"/>
                </a:solidFill>
              </a:rPr>
              <a:t>Validation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9800" y="32004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Auditor aceita
ou substitui
com justificativa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617720"/>
            <a:ext cx="1164031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829800" y="47091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6DA4"/>
                </a:solidFill>
              </a:rPr>
              <a:t>Auditor accepts
or overrides
with justification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2  Solução | 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9386" y="18288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Fluxo de Informação Ponta-a-Ponta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</a:rPr>
              <a:t>End-to-End Information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2057400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874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PDF do processo
(EVTEA, Relatório...)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84832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4F7"/>
                </a:solidFill>
              </a:rPr>
              <a:t>Process PDF
(EVTEA, Report...)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0008" y="1828800"/>
            <a:ext cx="15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6DA4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2788920"/>
            <a:ext cx="155448" cy="658368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96312" y="1463040"/>
            <a:ext cx="2057400" cy="1188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87752" y="1554480"/>
            <a:ext cx="1874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Chunks estruturados
(texto + metadados)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7752" y="2084832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4F7"/>
                </a:solidFill>
              </a:rPr>
              <a:t>Structured chunks
(text + metadata)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15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6DA4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53712" y="2788920"/>
            <a:ext cx="155448" cy="658368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18304" y="1463040"/>
            <a:ext cx="2057400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9744" y="1554480"/>
            <a:ext cx="1874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Evidências recuperadas
(com proveniência)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2084832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4F7"/>
                </a:solidFill>
              </a:rPr>
              <a:t>Retrieved evidence
(with provenance)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1828800"/>
            <a:ext cx="15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6DA4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75704" y="2788920"/>
            <a:ext cx="155448" cy="658368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40296" y="1463040"/>
            <a:ext cx="2057400" cy="1188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31736" y="1554480"/>
            <a:ext cx="1874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Raciocínio + score
proposto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1736" y="2084832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4F7"/>
                </a:solidFill>
              </a:rPr>
              <a:t>Reasoning + proposed
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5984" y="1828800"/>
            <a:ext cx="15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6DA4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97696" y="2788920"/>
            <a:ext cx="155448" cy="658368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62288" y="1463040"/>
            <a:ext cx="2057400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53728" y="1554480"/>
            <a:ext cx="1874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Decisão do auditor
(final + justificativa)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084832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4F7"/>
                </a:solidFill>
              </a:rPr>
              <a:t>Auditor decision
(final + justification)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02636" y="2788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</a:rPr>
              <a:t>Módulo 2
Extraction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4628" y="2788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</a:rPr>
              <a:t>Módulo 3
Retrieval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6620" y="2788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</a:rPr>
              <a:t>Módulo 4
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8612" y="2788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</a:rPr>
              <a:t>Módulo 5
Assessment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931920"/>
            <a:ext cx="1161288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Princípios de Projeto | Design Principles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0940" y="4434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2E6DA4"/>
                </a:solidFill>
              </a:rPr>
              <a:t>Reprodutibilidade</a:t>
            </a:r>
            <a:r>
              <a:rPr sz="1100" b="1" i="0" dirty="0">
                <a:solidFill>
                  <a:srgbClr val="2E6DA4"/>
                </a:solidFill>
              </a:rPr>
              <a:t> | Reproducibility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4736592"/>
            <a:ext cx="3931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C1C1C"/>
                </a:solidFill>
              </a:rPr>
              <a:t>BM25 </a:t>
            </a:r>
            <a:r>
              <a:rPr sz="1000" b="0" i="0" dirty="0" err="1" smtClean="0">
                <a:solidFill>
                  <a:srgbClr val="1C1C1C"/>
                </a:solidFill>
              </a:rPr>
              <a:t>determinístico</a:t>
            </a:r>
            <a:r>
              <a:rPr sz="1000" b="0" i="0" dirty="0" smtClean="0">
                <a:solidFill>
                  <a:srgbClr val="1C1C1C"/>
                </a:solidFill>
              </a:rPr>
              <a:t> </a:t>
            </a:r>
            <a:r>
              <a:rPr sz="1000" b="0" i="0" dirty="0">
                <a:solidFill>
                  <a:srgbClr val="1C1C1C"/>
                </a:solidFill>
              </a:rPr>
              <a:t>+ </a:t>
            </a:r>
            <a:r>
              <a:rPr sz="1000" b="0" i="0" dirty="0" err="1">
                <a:solidFill>
                  <a:srgbClr val="1C1C1C"/>
                </a:solidFill>
              </a:rPr>
              <a:t>temperatura</a:t>
            </a:r>
            <a:r>
              <a:rPr sz="1000" b="0" i="0" dirty="0">
                <a:solidFill>
                  <a:srgbClr val="1C1C1C"/>
                </a:solidFill>
              </a:rPr>
              <a:t>=0 → </a:t>
            </a:r>
            <a:r>
              <a:rPr sz="1000" b="0" i="0" dirty="0" err="1">
                <a:solidFill>
                  <a:srgbClr val="1C1C1C"/>
                </a:solidFill>
              </a:rPr>
              <a:t>mesma</a:t>
            </a:r>
            <a:r>
              <a:rPr sz="1000" b="0" i="0" dirty="0">
                <a:solidFill>
                  <a:srgbClr val="1C1C1C"/>
                </a:solidFill>
              </a:rPr>
              <a:t> entrada, </a:t>
            </a:r>
            <a:r>
              <a:rPr sz="1000" b="0" i="0" dirty="0" err="1">
                <a:solidFill>
                  <a:srgbClr val="1C1C1C"/>
                </a:solidFill>
              </a:rPr>
              <a:t>mesmo</a:t>
            </a:r>
            <a:r>
              <a:rPr sz="1000" b="0" i="0" dirty="0">
                <a:solidFill>
                  <a:srgbClr val="1C1C1C"/>
                </a:solidFill>
              </a:rPr>
              <a:t> score
Deterministic BM25 + temperature=0 → same input, same 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4054" y="4434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2E6DA4"/>
                </a:solidFill>
              </a:rPr>
              <a:t>Rastreabilidade</a:t>
            </a:r>
            <a:r>
              <a:rPr sz="1100" b="1" i="0" dirty="0">
                <a:solidFill>
                  <a:srgbClr val="2E6DA4"/>
                </a:solidFill>
              </a:rPr>
              <a:t> | Traceability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4054" y="4736592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Cada score carrega sua cadeia de evidências completa
Every score carries its complete evidence chain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1290" y="443484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smtClean="0">
                <a:solidFill>
                  <a:srgbClr val="2E6DA4"/>
                </a:solidFill>
              </a:rPr>
              <a:t>Human </a:t>
            </a:r>
            <a:r>
              <a:rPr sz="1100" b="1" i="0" dirty="0">
                <a:solidFill>
                  <a:srgbClr val="2E6DA4"/>
                </a:solidFill>
              </a:rPr>
              <a:t>in the loop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1290" y="4736592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C1C1C"/>
                </a:solidFill>
              </a:rPr>
              <a:t>A </a:t>
            </a:r>
            <a:r>
              <a:rPr sz="1000" b="0" i="0" dirty="0" err="1">
                <a:solidFill>
                  <a:srgbClr val="1C1C1C"/>
                </a:solidFill>
              </a:rPr>
              <a:t>pontuação</a:t>
            </a:r>
            <a:r>
              <a:rPr sz="1000" b="0" i="0" dirty="0">
                <a:solidFill>
                  <a:srgbClr val="1C1C1C"/>
                </a:solidFill>
              </a:rPr>
              <a:t> final é </a:t>
            </a:r>
            <a:r>
              <a:rPr sz="1000" b="0" i="0" dirty="0" err="1">
                <a:solidFill>
                  <a:srgbClr val="1C1C1C"/>
                </a:solidFill>
              </a:rPr>
              <a:t>sempre</a:t>
            </a:r>
            <a:r>
              <a:rPr sz="1000" b="0" i="0" dirty="0">
                <a:solidFill>
                  <a:srgbClr val="1C1C1C"/>
                </a:solidFill>
              </a:rPr>
              <a:t> do auditor, </a:t>
            </a:r>
            <a:r>
              <a:rPr sz="1000" b="0" i="0" dirty="0" err="1">
                <a:solidFill>
                  <a:srgbClr val="1C1C1C"/>
                </a:solidFill>
              </a:rPr>
              <a:t>nunca</a:t>
            </a:r>
            <a:r>
              <a:rPr sz="1000" b="0" i="0" dirty="0">
                <a:solidFill>
                  <a:srgbClr val="1C1C1C"/>
                </a:solidFill>
              </a:rPr>
              <a:t> do </a:t>
            </a:r>
            <a:r>
              <a:rPr sz="1000" b="0" i="0" dirty="0" err="1">
                <a:solidFill>
                  <a:srgbClr val="1C1C1C"/>
                </a:solidFill>
              </a:rPr>
              <a:t>sistema</a:t>
            </a:r>
            <a:r>
              <a:rPr sz="1000" b="0" i="0" dirty="0">
                <a:solidFill>
                  <a:srgbClr val="1C1C1C"/>
                </a:solidFill>
              </a:rPr>
              <a:t>
The final score always belongs to the auditor, never the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3  Arquitetura | Architecture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Mapa de Módulos e Responsabilidades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</a:rPr>
              <a:t>Module Responsibility Map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655265"/>
              </p:ext>
            </p:extLst>
          </p:nvPr>
        </p:nvGraphicFramePr>
        <p:xfrm>
          <a:off x="274320" y="1143000"/>
          <a:ext cx="1161288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920240"/>
                <a:gridCol w="3291840"/>
                <a:gridCol w="438912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Módulo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 | Module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Estágio | Stage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Entrada | Input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Saída | Output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C1C1C"/>
                          </a:solidFill>
                        </a:rPr>
                        <a:t>1 —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Referência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
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Arquivos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 IPMP + Rio Manual
</a:t>
                      </a:r>
                      <a:r>
                        <a:rPr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IPMP + Rio Manual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Store de </a:t>
                      </a:r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critérios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 e </a:t>
                      </a:r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metadados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
</a:t>
                      </a:r>
                      <a:r>
                        <a:rPr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Criteria and search metadata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C1C1C"/>
                          </a:solidFill>
                        </a:rPr>
                        <a:t>2 — Extraction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Extração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
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PDF do </a:t>
                      </a:r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processo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
</a:t>
                      </a:r>
                      <a:r>
                        <a:rPr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Process PDF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Lista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 de Chunks </a:t>
                      </a:r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estruturados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
</a:t>
                      </a:r>
                      <a:r>
                        <a:rPr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List of structured Chunks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C1C1C"/>
                          </a:solidFill>
                        </a:rPr>
                        <a:t>3 —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Recuperação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
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Chunks </a:t>
                      </a:r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indexados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 + </a:t>
                      </a:r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critérios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
</a:t>
                      </a:r>
                      <a:r>
                        <a:rPr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Indexed chunks + criteria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RetrievedChunks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 com </a:t>
                      </a:r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proveniência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
</a:t>
                      </a:r>
                      <a:r>
                        <a:rPr sz="10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RetrievedChunks</a:t>
                      </a:r>
                      <a:r>
                        <a:rPr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with provenance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C1C1C"/>
                          </a:solidFill>
                        </a:rPr>
                        <a:t>4 — Evaluation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Avaliação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
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RetrievedChunks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 + </a:t>
                      </a:r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critérios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 IPMP
</a:t>
                      </a:r>
                      <a:r>
                        <a:rPr sz="10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RetrievedChunks</a:t>
                      </a:r>
                      <a:r>
                        <a:rPr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+ IPMP criteria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EvaluationResult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 + </a:t>
                      </a:r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raciocínio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
</a:t>
                      </a:r>
                      <a:r>
                        <a:rPr sz="10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EvaluationResult</a:t>
                      </a:r>
                      <a:r>
                        <a:rPr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+ reasoning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C1C1C"/>
                          </a:solidFill>
                        </a:rPr>
                        <a:t>5 —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Orquestração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 + API
</a:t>
                      </a:r>
                      <a:r>
                        <a:rPr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Orchestration +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PDFs do </a:t>
                      </a:r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caso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
</a:t>
                      </a:r>
                      <a:r>
                        <a:rPr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Case PDFs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Resultados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persistidos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 + REST API
</a:t>
                      </a:r>
                      <a:r>
                        <a:rPr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Persisted results + REST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C1C1C"/>
                          </a:solidFill>
                        </a:rPr>
                        <a:t>6 — Vector Fallback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Recuperação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 (fallback)
</a:t>
                      </a:r>
                      <a:r>
                        <a:rPr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Retrieval (fallback)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Chunks </a:t>
                      </a:r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sem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resultado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léxico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
</a:t>
                      </a:r>
                      <a:r>
                        <a:rPr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Chunks with no lexical result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Chunks </a:t>
                      </a:r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por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similaridade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semântica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
</a:t>
                      </a:r>
                      <a:r>
                        <a:rPr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Chunks by semantic similarity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C1C1C"/>
                          </a:solidFill>
                        </a:rPr>
                        <a:t>7 — 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Interface do auditor
</a:t>
                      </a:r>
                      <a:r>
                        <a:rPr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Auditor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API REST
</a:t>
                      </a:r>
                      <a:r>
                        <a:rPr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REST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Painel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 Vue.js com </a:t>
                      </a:r>
                      <a:r>
                        <a:rPr sz="1000" b="0" dirty="0" err="1">
                          <a:solidFill>
                            <a:srgbClr val="1C1C1C"/>
                          </a:solidFill>
                        </a:rPr>
                        <a:t>evidências</a:t>
                      </a:r>
                      <a:r>
                        <a:rPr sz="1000" b="0" dirty="0">
                          <a:solidFill>
                            <a:srgbClr val="1C1C1C"/>
                          </a:solidFill>
                        </a:rPr>
                        <a:t>
</a:t>
                      </a:r>
                      <a:r>
                        <a:rPr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Vue.js panel with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4  Módulos | Modules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Módulo 3 — Retrieval: Cascata de Recuperação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</a:rPr>
              <a:t>Module 3 — Retrieval: Retrieval Cascade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94360" cy="89611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188720"/>
            <a:ext cx="10607040" cy="8961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252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Filename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36192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1C1C1C"/>
                </a:solidFill>
              </a:rPr>
              <a:t>Compara</a:t>
            </a:r>
            <a:r>
              <a:rPr sz="1000" b="0" i="0" dirty="0">
                <a:solidFill>
                  <a:srgbClr val="1C1C1C"/>
                </a:solidFill>
              </a:rPr>
              <a:t> </a:t>
            </a:r>
            <a:r>
              <a:rPr sz="1000" b="0" i="0" dirty="0" err="1">
                <a:solidFill>
                  <a:srgbClr val="1C1C1C"/>
                </a:solidFill>
              </a:rPr>
              <a:t>nomes</a:t>
            </a:r>
            <a:r>
              <a:rPr sz="1000" b="0" i="0" dirty="0">
                <a:solidFill>
                  <a:srgbClr val="1C1C1C"/>
                </a:solidFill>
              </a:rPr>
              <a:t> de </a:t>
            </a:r>
            <a:r>
              <a:rPr sz="1000" b="0" i="0" dirty="0" err="1">
                <a:solidFill>
                  <a:srgbClr val="1C1C1C"/>
                </a:solidFill>
              </a:rPr>
              <a:t>arquivo</a:t>
            </a:r>
            <a:r>
              <a:rPr sz="1000" b="0" i="0" dirty="0">
                <a:solidFill>
                  <a:srgbClr val="1C1C1C"/>
                </a:solidFill>
              </a:rPr>
              <a:t> com </a:t>
            </a:r>
            <a:r>
              <a:rPr sz="1000" b="0" i="0" dirty="0" err="1">
                <a:solidFill>
                  <a:srgbClr val="1C1C1C"/>
                </a:solidFill>
              </a:rPr>
              <a:t>documentos</a:t>
            </a:r>
            <a:r>
              <a:rPr sz="1000" b="0" i="0" dirty="0">
                <a:solidFill>
                  <a:srgbClr val="1C1C1C"/>
                </a:solidFill>
              </a:rPr>
              <a:t> do Rio Manual
</a:t>
            </a:r>
            <a:r>
              <a:rPr sz="1000" b="0" i="0" dirty="0">
                <a:solidFill>
                  <a:schemeClr val="bg1">
                    <a:lumMod val="50000"/>
                  </a:schemeClr>
                </a:solidFill>
              </a:rPr>
              <a:t>Matches file names against Rio Manual document names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93976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E6DA4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39696"/>
            <a:ext cx="594360" cy="89611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322576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2139696"/>
            <a:ext cx="10607040" cy="8961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220370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Variant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487168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1C1C1C"/>
                </a:solidFill>
              </a:rPr>
              <a:t>Busca</a:t>
            </a:r>
            <a:r>
              <a:rPr sz="1000" b="0" i="0" dirty="0">
                <a:solidFill>
                  <a:srgbClr val="1C1C1C"/>
                </a:solidFill>
              </a:rPr>
              <a:t> </a:t>
            </a:r>
            <a:r>
              <a:rPr sz="1000" b="0" i="0" dirty="0" err="1">
                <a:solidFill>
                  <a:srgbClr val="1C1C1C"/>
                </a:solidFill>
              </a:rPr>
              <a:t>variantes</a:t>
            </a:r>
            <a:r>
              <a:rPr sz="1000" b="0" i="0" dirty="0">
                <a:solidFill>
                  <a:srgbClr val="1C1C1C"/>
                </a:solidFill>
              </a:rPr>
              <a:t> do </a:t>
            </a:r>
            <a:r>
              <a:rPr sz="1000" b="0" i="0" dirty="0" err="1">
                <a:solidFill>
                  <a:srgbClr val="1C1C1C"/>
                </a:solidFill>
              </a:rPr>
              <a:t>nome</a:t>
            </a:r>
            <a:r>
              <a:rPr sz="1000" b="0" i="0" dirty="0">
                <a:solidFill>
                  <a:srgbClr val="1C1C1C"/>
                </a:solidFill>
              </a:rPr>
              <a:t> do </a:t>
            </a:r>
            <a:r>
              <a:rPr sz="1000" b="0" i="0" dirty="0" err="1">
                <a:solidFill>
                  <a:srgbClr val="1C1C1C"/>
                </a:solidFill>
              </a:rPr>
              <a:t>documento</a:t>
            </a:r>
            <a:r>
              <a:rPr sz="1000" b="0" i="0" dirty="0">
                <a:solidFill>
                  <a:srgbClr val="1C1C1C"/>
                </a:solidFill>
              </a:rPr>
              <a:t> </a:t>
            </a:r>
            <a:r>
              <a:rPr sz="1000" b="0" i="0" dirty="0" err="1">
                <a:solidFill>
                  <a:srgbClr val="1C1C1C"/>
                </a:solidFill>
              </a:rPr>
              <a:t>nos</a:t>
            </a:r>
            <a:r>
              <a:rPr sz="1000" b="0" i="0" dirty="0">
                <a:solidFill>
                  <a:srgbClr val="1C1C1C"/>
                </a:solidFill>
              </a:rPr>
              <a:t> </a:t>
            </a:r>
            <a:r>
              <a:rPr sz="1000" b="0" i="0" dirty="0" err="1">
                <a:solidFill>
                  <a:srgbClr val="1C1C1C"/>
                </a:solidFill>
              </a:rPr>
              <a:t>primeiros</a:t>
            </a:r>
            <a:r>
              <a:rPr sz="1000" b="0" i="0" dirty="0">
                <a:solidFill>
                  <a:srgbClr val="1C1C1C"/>
                </a:solidFill>
              </a:rPr>
              <a:t> chunks
</a:t>
            </a:r>
            <a:r>
              <a:rPr sz="1000" b="0" i="0" dirty="0">
                <a:solidFill>
                  <a:schemeClr val="bg1">
                    <a:lumMod val="50000"/>
                  </a:schemeClr>
                </a:solidFill>
              </a:rPr>
              <a:t>Searches document name variants in first chunks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44952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E6DA4"/>
                </a:solidFill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90672"/>
            <a:ext cx="594360" cy="89611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27355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3090672"/>
            <a:ext cx="10607040" cy="8961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31546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BM25 Corpus-Wide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438144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C1C1C"/>
                </a:solidFill>
              </a:rPr>
              <a:t>FTS5 OR queries: </a:t>
            </a:r>
            <a:r>
              <a:rPr sz="1000" b="0" i="0" dirty="0" err="1">
                <a:solidFill>
                  <a:srgbClr val="1C1C1C"/>
                </a:solidFill>
              </a:rPr>
              <a:t>termos</a:t>
            </a:r>
            <a:r>
              <a:rPr sz="1000" b="0" i="0" dirty="0">
                <a:solidFill>
                  <a:srgbClr val="1C1C1C"/>
                </a:solidFill>
              </a:rPr>
              <a:t> IPMP + hints </a:t>
            </a:r>
            <a:r>
              <a:rPr sz="1000" b="0" i="0" dirty="0" err="1">
                <a:solidFill>
                  <a:srgbClr val="1C1C1C"/>
                </a:solidFill>
              </a:rPr>
              <a:t>curados</a:t>
            </a:r>
            <a:r>
              <a:rPr sz="1000" b="0" i="0" dirty="0">
                <a:solidFill>
                  <a:srgbClr val="1C1C1C"/>
                </a:solidFill>
              </a:rPr>
              <a:t> Rio Manual
</a:t>
            </a:r>
            <a:r>
              <a:rPr sz="1000" b="0" i="0" dirty="0">
                <a:solidFill>
                  <a:schemeClr val="bg1">
                    <a:lumMod val="50000"/>
                  </a:schemeClr>
                </a:solidFill>
              </a:rPr>
              <a:t>FTS5 OR queries: IPMP terms + curated Rio Manual hints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95928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E6DA4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041648"/>
            <a:ext cx="594360" cy="89611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22452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" y="4041648"/>
            <a:ext cx="10607040" cy="8961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" y="410565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Regex Patterns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389120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1C1C1C"/>
                </a:solidFill>
              </a:rPr>
              <a:t>Padrões</a:t>
            </a:r>
            <a:r>
              <a:rPr sz="1000" b="0" i="0" dirty="0">
                <a:solidFill>
                  <a:srgbClr val="1C1C1C"/>
                </a:solidFill>
              </a:rPr>
              <a:t> </a:t>
            </a:r>
            <a:r>
              <a:rPr sz="1000" b="0" i="0" dirty="0" err="1">
                <a:solidFill>
                  <a:srgbClr val="1C1C1C"/>
                </a:solidFill>
              </a:rPr>
              <a:t>legais</a:t>
            </a:r>
            <a:r>
              <a:rPr sz="1000" b="0" i="0" dirty="0">
                <a:solidFill>
                  <a:srgbClr val="1C1C1C"/>
                </a:solidFill>
              </a:rPr>
              <a:t> </a:t>
            </a:r>
            <a:r>
              <a:rPr sz="1000" b="0" i="0" dirty="0" err="1">
                <a:solidFill>
                  <a:srgbClr val="1C1C1C"/>
                </a:solidFill>
              </a:rPr>
              <a:t>específicos</a:t>
            </a:r>
            <a:r>
              <a:rPr sz="1000" b="0" i="0" dirty="0">
                <a:solidFill>
                  <a:srgbClr val="1C1C1C"/>
                </a:solidFill>
              </a:rPr>
              <a:t> (ex: Lei </a:t>
            </a:r>
            <a:r>
              <a:rPr sz="1000" b="0" i="0" dirty="0" err="1">
                <a:solidFill>
                  <a:srgbClr val="1C1C1C"/>
                </a:solidFill>
              </a:rPr>
              <a:t>Complementar</a:t>
            </a:r>
            <a:r>
              <a:rPr sz="1000" b="0" i="0" dirty="0">
                <a:solidFill>
                  <a:srgbClr val="1C1C1C"/>
                </a:solidFill>
              </a:rPr>
              <a:t> n.º 105/2009)
</a:t>
            </a:r>
            <a:r>
              <a:rPr sz="1000" b="0" i="0" dirty="0">
                <a:solidFill>
                  <a:schemeClr val="bg1">
                    <a:lumMod val="50000"/>
                  </a:schemeClr>
                </a:solidFill>
              </a:rPr>
              <a:t>Specific legal patterns </a:t>
            </a:r>
            <a:endParaRPr sz="1000" b="0" i="0" dirty="0">
              <a:solidFill>
                <a:srgbClr val="1C1C1C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703085" y="4297680"/>
            <a:ext cx="3474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 dirty="0" err="1">
                <a:solidFill>
                  <a:schemeClr val="tx2"/>
                </a:solidFill>
              </a:rPr>
              <a:t>Aditivo</a:t>
            </a:r>
            <a:r>
              <a:rPr sz="1000" b="0" i="1" dirty="0">
                <a:solidFill>
                  <a:schemeClr val="tx2"/>
                </a:solidFill>
              </a:rPr>
              <a:t> </a:t>
            </a:r>
            <a:r>
              <a:rPr sz="1000" b="0" i="1" dirty="0" err="1">
                <a:solidFill>
                  <a:schemeClr val="tx2"/>
                </a:solidFill>
              </a:rPr>
              <a:t>ao</a:t>
            </a:r>
            <a:r>
              <a:rPr sz="1000" b="0" i="1" dirty="0">
                <a:solidFill>
                  <a:schemeClr val="tx2"/>
                </a:solidFill>
              </a:rPr>
              <a:t> BM25 | Additive to BM25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946904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E6DA4"/>
                </a:solidFill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992624"/>
            <a:ext cx="594360" cy="89611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5175504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" y="4992624"/>
            <a:ext cx="10607040" cy="8961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7280" y="505663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Vector Fallback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340096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1C1C1C"/>
                </a:solidFill>
              </a:rPr>
              <a:t>LanceDB</a:t>
            </a:r>
            <a:r>
              <a:rPr sz="1000" b="0" i="0" dirty="0">
                <a:solidFill>
                  <a:srgbClr val="1C1C1C"/>
                </a:solidFill>
              </a:rPr>
              <a:t> + all-MiniLM-L6-v2 — </a:t>
            </a:r>
            <a:r>
              <a:rPr sz="1000" b="0" i="0" dirty="0" err="1">
                <a:solidFill>
                  <a:srgbClr val="1C1C1C"/>
                </a:solidFill>
              </a:rPr>
              <a:t>apenas</a:t>
            </a:r>
            <a:r>
              <a:rPr sz="1000" b="0" i="0" dirty="0">
                <a:solidFill>
                  <a:srgbClr val="1C1C1C"/>
                </a:solidFill>
              </a:rPr>
              <a:t> se A–D = ∅
</a:t>
            </a:r>
            <a:r>
              <a:rPr sz="1000" b="0" i="0" dirty="0" err="1">
                <a:solidFill>
                  <a:schemeClr val="bg1">
                    <a:lumMod val="50000"/>
                  </a:schemeClr>
                </a:solidFill>
              </a:rPr>
              <a:t>LanceDB</a:t>
            </a:r>
            <a:r>
              <a:rPr sz="1000" b="0" i="0" dirty="0">
                <a:solidFill>
                  <a:schemeClr val="bg1">
                    <a:lumMod val="50000"/>
                  </a:schemeClr>
                </a:solidFill>
              </a:rPr>
              <a:t> + all-MiniLM-L6-v2 — only if A–D = 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4  Módulos | Modules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Módulo 4 — Evaluation: Prompt e Raciocínio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</a:rPr>
              <a:t>Module 4 — Evaluation: Prompt and Reasoning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486400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0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Prompt de Sistema | System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521208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dirty="0">
                <a:solidFill>
                  <a:srgbClr val="1C1C1C"/>
                </a:solidFill>
              </a:rPr>
              <a:t>▸  </a:t>
            </a:r>
            <a:r>
              <a:rPr sz="1000" dirty="0" err="1">
                <a:solidFill>
                  <a:srgbClr val="1C1C1C"/>
                </a:solidFill>
              </a:rPr>
              <a:t>Papel</a:t>
            </a:r>
            <a:r>
              <a:rPr sz="1000" dirty="0">
                <a:solidFill>
                  <a:srgbClr val="1C1C1C"/>
                </a:solidFill>
              </a:rPr>
              <a:t>: </a:t>
            </a:r>
            <a:r>
              <a:rPr sz="1000" dirty="0" err="1">
                <a:solidFill>
                  <a:srgbClr val="1C1C1C"/>
                </a:solidFill>
              </a:rPr>
              <a:t>avaliador</a:t>
            </a:r>
            <a:r>
              <a:rPr sz="1000" dirty="0">
                <a:solidFill>
                  <a:srgbClr val="1C1C1C"/>
                </a:solidFill>
              </a:rPr>
              <a:t> </a:t>
            </a:r>
            <a:r>
              <a:rPr sz="1000" dirty="0" err="1">
                <a:solidFill>
                  <a:srgbClr val="1C1C1C"/>
                </a:solidFill>
              </a:rPr>
              <a:t>especialista</a:t>
            </a:r>
            <a:r>
              <a:rPr sz="1000" dirty="0">
                <a:solidFill>
                  <a:srgbClr val="1C1C1C"/>
                </a:solidFill>
              </a:rPr>
              <a:t> IPMP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1C1C1C"/>
                </a:solidFill>
              </a:rPr>
              <a:t>▸  </a:t>
            </a:r>
            <a:r>
              <a:rPr sz="1000" dirty="0" err="1">
                <a:solidFill>
                  <a:srgbClr val="1C1C1C"/>
                </a:solidFill>
              </a:rPr>
              <a:t>Critérios</a:t>
            </a:r>
            <a:r>
              <a:rPr sz="1000" dirty="0">
                <a:solidFill>
                  <a:srgbClr val="1C1C1C"/>
                </a:solidFill>
              </a:rPr>
              <a:t> </a:t>
            </a:r>
            <a:r>
              <a:rPr sz="1000" dirty="0" err="1">
                <a:solidFill>
                  <a:srgbClr val="1C1C1C"/>
                </a:solidFill>
              </a:rPr>
              <a:t>detalhados</a:t>
            </a:r>
            <a:r>
              <a:rPr sz="1000" dirty="0">
                <a:solidFill>
                  <a:srgbClr val="1C1C1C"/>
                </a:solidFill>
              </a:rPr>
              <a:t> da </a:t>
            </a:r>
            <a:r>
              <a:rPr sz="1000" dirty="0" err="1">
                <a:solidFill>
                  <a:srgbClr val="1C1C1C"/>
                </a:solidFill>
              </a:rPr>
              <a:t>Ação</a:t>
            </a:r>
            <a:r>
              <a:rPr sz="1000" dirty="0">
                <a:solidFill>
                  <a:srgbClr val="1C1C1C"/>
                </a:solidFill>
              </a:rPr>
              <a:t> (</a:t>
            </a:r>
            <a:r>
              <a:rPr sz="1000" dirty="0" err="1">
                <a:solidFill>
                  <a:srgbClr val="1C1C1C"/>
                </a:solidFill>
              </a:rPr>
              <a:t>produtos</a:t>
            </a:r>
            <a:r>
              <a:rPr sz="1000" dirty="0">
                <a:solidFill>
                  <a:srgbClr val="1C1C1C"/>
                </a:solidFill>
              </a:rPr>
              <a:t> 1a–1d)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1C1C1C"/>
                </a:solidFill>
              </a:rPr>
              <a:t>▸  Rubric: </a:t>
            </a:r>
            <a:r>
              <a:rPr sz="1000" dirty="0" err="1">
                <a:solidFill>
                  <a:srgbClr val="1C1C1C"/>
                </a:solidFill>
              </a:rPr>
              <a:t>exemplos</a:t>
            </a:r>
            <a:r>
              <a:rPr sz="1000" dirty="0">
                <a:solidFill>
                  <a:srgbClr val="1C1C1C"/>
                </a:solidFill>
              </a:rPr>
              <a:t> </a:t>
            </a:r>
            <a:r>
              <a:rPr sz="1000" dirty="0" err="1">
                <a:solidFill>
                  <a:srgbClr val="1C1C1C"/>
                </a:solidFill>
              </a:rPr>
              <a:t>pontuados</a:t>
            </a:r>
            <a:r>
              <a:rPr sz="1000" dirty="0">
                <a:solidFill>
                  <a:srgbClr val="1C1C1C"/>
                </a:solidFill>
              </a:rPr>
              <a:t> (</a:t>
            </a:r>
            <a:r>
              <a:rPr sz="1000" dirty="0" err="1">
                <a:solidFill>
                  <a:srgbClr val="1C1C1C"/>
                </a:solidFill>
              </a:rPr>
              <a:t>Atendido</a:t>
            </a:r>
            <a:r>
              <a:rPr sz="1000" dirty="0">
                <a:solidFill>
                  <a:srgbClr val="1C1C1C"/>
                </a:solidFill>
              </a:rPr>
              <a:t> / </a:t>
            </a:r>
            <a:r>
              <a:rPr sz="1000" dirty="0" err="1">
                <a:solidFill>
                  <a:srgbClr val="1C1C1C"/>
                </a:solidFill>
              </a:rPr>
              <a:t>Parcialmente</a:t>
            </a:r>
            <a:r>
              <a:rPr sz="1000" dirty="0">
                <a:solidFill>
                  <a:srgbClr val="1C1C1C"/>
                </a:solidFill>
              </a:rPr>
              <a:t> / </a:t>
            </a:r>
            <a:r>
              <a:rPr sz="1000" dirty="0" err="1">
                <a:solidFill>
                  <a:srgbClr val="1C1C1C"/>
                </a:solidFill>
              </a:rPr>
              <a:t>Não</a:t>
            </a:r>
            <a:r>
              <a:rPr sz="1000" dirty="0">
                <a:solidFill>
                  <a:srgbClr val="1C1C1C"/>
                </a:solidFill>
              </a:rPr>
              <a:t> </a:t>
            </a:r>
            <a:r>
              <a:rPr sz="1000" dirty="0" err="1">
                <a:solidFill>
                  <a:srgbClr val="1C1C1C"/>
                </a:solidFill>
              </a:rPr>
              <a:t>Atendido</a:t>
            </a:r>
            <a:r>
              <a:rPr sz="1000" dirty="0">
                <a:solidFill>
                  <a:srgbClr val="1C1C1C"/>
                </a:solidFill>
              </a:rPr>
              <a:t>)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1C1C1C"/>
                </a:solidFill>
              </a:rPr>
              <a:t>▸  </a:t>
            </a:r>
            <a:r>
              <a:rPr sz="1000" dirty="0" err="1">
                <a:solidFill>
                  <a:srgbClr val="1C1C1C"/>
                </a:solidFill>
              </a:rPr>
              <a:t>Instrução</a:t>
            </a:r>
            <a:r>
              <a:rPr sz="1000" dirty="0">
                <a:solidFill>
                  <a:srgbClr val="1C1C1C"/>
                </a:solidFill>
              </a:rPr>
              <a:t> de </a:t>
            </a:r>
            <a:r>
              <a:rPr sz="1000" dirty="0" err="1">
                <a:solidFill>
                  <a:srgbClr val="1C1C1C"/>
                </a:solidFill>
              </a:rPr>
              <a:t>formato</a:t>
            </a:r>
            <a:r>
              <a:rPr sz="1000" dirty="0">
                <a:solidFill>
                  <a:srgbClr val="1C1C1C"/>
                </a:solidFill>
              </a:rPr>
              <a:t>: </a:t>
            </a:r>
            <a:r>
              <a:rPr sz="1000" dirty="0" err="1">
                <a:solidFill>
                  <a:srgbClr val="1C1C1C"/>
                </a:solidFill>
              </a:rPr>
              <a:t>raciocínio</a:t>
            </a:r>
            <a:r>
              <a:rPr sz="1000" dirty="0">
                <a:solidFill>
                  <a:srgbClr val="1C1C1C"/>
                </a:solidFill>
              </a:rPr>
              <a:t> livre + </a:t>
            </a:r>
            <a:r>
              <a:rPr sz="1000" dirty="0" err="1">
                <a:solidFill>
                  <a:srgbClr val="1C1C1C"/>
                </a:solidFill>
              </a:rPr>
              <a:t>bloco</a:t>
            </a:r>
            <a:r>
              <a:rPr sz="1000" dirty="0">
                <a:solidFill>
                  <a:srgbClr val="1C1C1C"/>
                </a:solidFill>
              </a:rPr>
              <a:t> </a:t>
            </a:r>
            <a:r>
              <a:rPr sz="1000" dirty="0" err="1">
                <a:solidFill>
                  <a:srgbClr val="1C1C1C"/>
                </a:solidFill>
              </a:rPr>
              <a:t>sentinela</a:t>
            </a:r>
            <a:r>
              <a:rPr sz="1000" dirty="0">
                <a:solidFill>
                  <a:srgbClr val="1C1C1C"/>
                </a:solidFill>
              </a:rPr>
              <a:t> </a:t>
            </a:r>
            <a:r>
              <a:rPr sz="1000" dirty="0" err="1">
                <a:solidFill>
                  <a:srgbClr val="1C1C1C"/>
                </a:solidFill>
              </a:rPr>
              <a:t>obrigatório</a:t>
            </a:r>
            <a:endParaRPr sz="10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000" dirty="0" smtClean="0">
                <a:solidFill>
                  <a:srgbClr val="1C1C1C"/>
                </a:solidFill>
              </a:rPr>
              <a:t> </a:t>
            </a:r>
            <a:r>
              <a:rPr sz="1000" dirty="0">
                <a:solidFill>
                  <a:srgbClr val="1C1C1C"/>
                </a:solidFill>
              </a:rPr>
              <a:t>─────────────────────────────────────────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▸  Role: expert IPMP evaluator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▸  Detailed action criteria (products 1a–1d)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▸  Rubric: scored examples (Met / Partial / Not Met)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▸  Format: free reasoning + mandatory sentinel block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703320"/>
            <a:ext cx="5486400" cy="38404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374903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Prompt de Usuário | User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16052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1C1C1C"/>
                </a:solidFill>
              </a:rPr>
              <a:t>▸  [Arquivo: Relatório de Pré-Análise.pdf | Página: 3]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C1C1C"/>
                </a:solidFill>
              </a:rPr>
              <a:t>▸  ... texto do chunk ...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C1C1C"/>
                </a:solidFill>
              </a:rPr>
              <a:t>▸  [Arquivo: EVTEA.pdf | Página: 12]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C1C1C"/>
                </a:solidFill>
              </a:rPr>
              <a:t>▸  ... texto do chunk ...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C1C1C"/>
                </a:solidFill>
              </a:rPr>
              <a:t>▸  (até 20.000 chars; prioridade por etapa da cascata)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C1C1C"/>
                </a:solidFill>
              </a:rPr>
              <a:t>▸  (up to 20,000 chars; priority by cascade step)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143000"/>
            <a:ext cx="5852160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35040" y="1143000"/>
            <a:ext cx="585216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118872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Resposta do LLM | LLM Response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600200"/>
            <a:ext cx="5577840" cy="2331720"/>
          </a:xfrm>
          <a:prstGeom prst="rect">
            <a:avLst/>
          </a:prstGeom>
          <a:solidFill>
            <a:srgbClr val="1A3A5C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1645920"/>
            <a:ext cx="53949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Raciocínio:
Os Produtos Esperados 1a–1d estão evidenciados:
1a. Necessidade → Seção 1 do documento
1b. Contexto econômico → Seção 2
1c. Objetivos estratégicos → Seção 3
1d. Alinhamento com PPA/LOA/LDO → Seção 4
Bloco sentinela:
SCORE: 3
UNCERTAINTY: 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023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Modo de falha seguro | Safe 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38912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1C1C1C"/>
                </a:solidFill>
              </a:rPr>
              <a:t>▸  parse_failed=True se o sentinela não for encontrado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C1C1C"/>
                </a:solidFill>
              </a:rPr>
              <a:t>▸  Auditor é notificado; score não é gravado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C1C1C"/>
                </a:solidFill>
              </a:rPr>
              <a:t>▸  parse_failed=True if sentinel not found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C1C1C"/>
                </a:solidFill>
              </a:rPr>
              <a:t>▸  Auditor is notified; score is not recorded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4  Módulos | Modules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Fluxo de Trabalho do Auditor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</a:rPr>
              <a:t>Auditor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2011680" cy="1828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0136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Informa número do processo
e faz upload dos PDFs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68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0E4F7"/>
                </a:solidFill>
              </a:rPr>
              <a:t>Enters process number
and uploads PDFs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874520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6DA4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15768" y="1234440"/>
            <a:ext cx="2011680" cy="18288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07208" y="1325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Indexação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7208" y="180136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Sistema extrai, chunka
e indexa o 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2468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0E4F7"/>
                </a:solidFill>
              </a:rPr>
              <a:t>Extraction
chunking
indexing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1874520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6DA4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11496" y="1234440"/>
            <a:ext cx="2011680" cy="1828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02936" y="1325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Recuperação
+ Avaliação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180136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Cascata BM25/regex;
LLM raciocina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2936" y="2468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0E4F7"/>
                </a:solidFill>
              </a:rPr>
              <a:t>BM25/regex cascade;
LLM reasons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4616" y="1874520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6DA4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07224" y="1234440"/>
            <a:ext cx="2011680" cy="18288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98664" y="1325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Painel
Ação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180136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7 elementos do
pacote de evidências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8664" y="2468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0E4F7"/>
                </a:solidFill>
              </a:rPr>
              <a:t>7 elements of
evidence package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0344" y="1874520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6DA4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02952" y="1234440"/>
            <a:ext cx="2011680" cy="1828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94392" y="1325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Decisão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4392" y="180136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Aceitar ou substituir
com justificativa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4392" y="2468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0E4F7"/>
                </a:solidFill>
              </a:rPr>
              <a:t>Accept or override
with justification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3246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Os 7 elementos do pacote de evidências | The 7-element evidence package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20040" y="3611880"/>
          <a:ext cx="71323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8404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Elemento (PT)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Element (EN)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1C1C"/>
                          </a:solidFill>
                        </a:rPr>
                        <a:t>Evidências recuperadas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1C1C"/>
                          </a:solidFill>
                        </a:rPr>
                        <a:t>Retrieved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1C1C"/>
                          </a:solidFill>
                        </a:rPr>
                        <a:t>Proveniência da recuperação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1C1C"/>
                          </a:solidFill>
                        </a:rPr>
                        <a:t>Retrieval provenance (cascade step + query)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1C1C"/>
                          </a:solidFill>
                        </a:rPr>
                        <a:t>Critérios IPMP completos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1C1C"/>
                          </a:solidFill>
                        </a:rPr>
                        <a:t>Full IPMP criteria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1C1C"/>
                          </a:solidFill>
                        </a:rPr>
                        <a:t>Prompt completo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1C1C"/>
                          </a:solidFill>
                        </a:rPr>
                        <a:t>Full prompt (system + user)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1C1C"/>
                          </a:solidFill>
                        </a:rPr>
                        <a:t>Raciocínio do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1C1C"/>
                          </a:solidFill>
                        </a:rPr>
                        <a:t>LLM reasoning (per expected product)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1C1C"/>
                          </a:solidFill>
                        </a:rPr>
                        <a:t>Flag de incerteza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1C1C"/>
                          </a:solidFill>
                        </a:rPr>
                        <a:t>Uncertainty flag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1C1C"/>
                          </a:solidFill>
                        </a:rPr>
                        <a:t>Pontuação proposta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1C1C"/>
                          </a:solidFill>
                        </a:rPr>
                        <a:t>Proposed score (0 / 1 /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7635240" y="3246120"/>
            <a:ext cx="4251960" cy="3429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0" y="3337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Decisão do Auditor | Auditor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749039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✓  Aceitar a pontuação proposta
     Accept proposed score</a:t>
            </a:r>
          </a:p>
          <a:p>
            <a:pPr>
              <a:spcBef>
                <a:spcPts val="200"/>
              </a:spcBef>
            </a:pPr>
            <a:endParaRPr sz="1100">
              <a:solidFill>
                <a:srgbClr val="FFFFFF"/>
              </a:solidFill>
            </a:endParaRP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↔  Substituir com nova pontuação
     Override with new score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    + justificativa obrigatória
     + mandatory justification</a:t>
            </a:r>
          </a:p>
          <a:p>
            <a:pPr>
              <a:spcBef>
                <a:spcPts val="200"/>
              </a:spcBef>
            </a:pPr>
            <a:endParaRPr sz="1100">
              <a:solidFill>
                <a:srgbClr val="FFFFFF"/>
              </a:solidFill>
            </a:endParaRP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Score final sempre do auditor.
Final score always the auditor's.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5  Auditor | Workflow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Estado Atual da Implementação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</a:rPr>
              <a:t>Current Implementation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2743200" cy="12801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64792"/>
            <a:ext cx="25603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 err="1">
                <a:solidFill>
                  <a:srgbClr val="FFFFFF"/>
                </a:solidFill>
              </a:rPr>
              <a:t>Módulos</a:t>
            </a:r>
            <a:r>
              <a:rPr sz="900" b="0" i="0" dirty="0">
                <a:solidFill>
                  <a:srgbClr val="FFFFFF"/>
                </a:solidFill>
              </a:rPr>
              <a:t>
</a:t>
            </a:r>
            <a:r>
              <a:rPr sz="900" b="0" i="0" dirty="0" err="1">
                <a:solidFill>
                  <a:srgbClr val="FFFFFF"/>
                </a:solidFill>
              </a:rPr>
              <a:t>concluídos</a:t>
            </a:r>
            <a:r>
              <a:rPr sz="900" b="0" i="0" dirty="0">
                <a:solidFill>
                  <a:srgbClr val="FFFFFF"/>
                </a:solidFill>
              </a:rPr>
              <a:t>  </a:t>
            </a:r>
            <a:endParaRPr lang="pt-BR" sz="900" b="0" i="0" dirty="0" smtClean="0">
              <a:solidFill>
                <a:srgbClr val="FFFFFF"/>
              </a:solidFill>
            </a:endParaRPr>
          </a:p>
          <a:p>
            <a:pPr algn="ctr"/>
            <a:r>
              <a:rPr sz="800" b="0" i="0" dirty="0" smtClean="0">
                <a:solidFill>
                  <a:srgbClr val="FFFFFF"/>
                </a:solidFill>
              </a:rPr>
              <a:t>  </a:t>
            </a:r>
            <a:r>
              <a:rPr sz="800" b="0" i="1" dirty="0">
                <a:solidFill>
                  <a:srgbClr val="FFFFFF"/>
                </a:solidFill>
              </a:rPr>
              <a:t>Completed
modules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143000"/>
            <a:ext cx="2743200" cy="12801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37560" y="11887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64792"/>
            <a:ext cx="256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00" b="0" i="0" dirty="0" smtClean="0">
                <a:solidFill>
                  <a:srgbClr val="FFFFFF"/>
                </a:solidFill>
              </a:rPr>
              <a:t>AI </a:t>
            </a:r>
            <a:r>
              <a:rPr sz="900" b="0" i="0" dirty="0" smtClean="0">
                <a:solidFill>
                  <a:srgbClr val="FFFFFF"/>
                </a:solidFill>
              </a:rPr>
              <a:t>Tests</a:t>
            </a:r>
            <a:r>
              <a:rPr sz="900" b="0" i="0" dirty="0">
                <a:solidFill>
                  <a:srgbClr val="FFFFFF"/>
                </a:solidFill>
              </a:rPr>
              <a:t>
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143000"/>
            <a:ext cx="2743200" cy="12801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1887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5930" y="1764792"/>
            <a:ext cx="2560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 err="1">
                <a:solidFill>
                  <a:srgbClr val="FFFFFF"/>
                </a:solidFill>
              </a:rPr>
              <a:t>Ação</a:t>
            </a:r>
            <a:r>
              <a:rPr sz="900" b="0" i="0" dirty="0">
                <a:solidFill>
                  <a:srgbClr val="FFFFFF"/>
                </a:solidFill>
              </a:rPr>
              <a:t> IPMP
</a:t>
            </a:r>
            <a:r>
              <a:rPr sz="900" b="0" i="0" dirty="0" err="1">
                <a:solidFill>
                  <a:srgbClr val="FFFFFF"/>
                </a:solidFill>
              </a:rPr>
              <a:t>implementada</a:t>
            </a:r>
            <a:r>
              <a:rPr sz="900" b="0" i="0" dirty="0">
                <a:solidFill>
                  <a:srgbClr val="FFFFFF"/>
                </a:solidFill>
              </a:rPr>
              <a:t>  </a:t>
            </a:r>
            <a:endParaRPr lang="pt-BR" sz="900" dirty="0">
              <a:solidFill>
                <a:srgbClr val="FFFFFF"/>
              </a:solidFill>
            </a:endParaRPr>
          </a:p>
          <a:p>
            <a:pPr algn="ctr"/>
            <a:r>
              <a:rPr sz="900" b="0" i="0" dirty="0" smtClean="0">
                <a:solidFill>
                  <a:srgbClr val="FFFFFF"/>
                </a:solidFill>
              </a:rPr>
              <a:t> </a:t>
            </a:r>
            <a:r>
              <a:rPr sz="800" b="0" i="1" dirty="0">
                <a:solidFill>
                  <a:srgbClr val="FFFFFF"/>
                </a:solidFill>
              </a:rPr>
              <a:t>IPMP Action
implemented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143000"/>
            <a:ext cx="2743200" cy="12801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9720" y="11887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E2E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1764792"/>
            <a:ext cx="25603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 err="1">
                <a:solidFill>
                  <a:srgbClr val="FFFFFF"/>
                </a:solidFill>
              </a:rPr>
              <a:t>Fluxo</a:t>
            </a:r>
            <a:r>
              <a:rPr sz="900" b="0" i="0" dirty="0">
                <a:solidFill>
                  <a:srgbClr val="FFFFFF"/>
                </a:solidFill>
              </a:rPr>
              <a:t> </a:t>
            </a:r>
            <a:r>
              <a:rPr sz="900" b="0" i="0" dirty="0" err="1">
                <a:solidFill>
                  <a:srgbClr val="FFFFFF"/>
                </a:solidFill>
              </a:rPr>
              <a:t>ponta</a:t>
            </a:r>
            <a:r>
              <a:rPr sz="900" b="0" i="0" dirty="0">
                <a:solidFill>
                  <a:srgbClr val="FFFFFF"/>
                </a:solidFill>
              </a:rPr>
              <a:t>-a-</a:t>
            </a:r>
            <a:r>
              <a:rPr sz="900" b="0" i="0" dirty="0" err="1">
                <a:solidFill>
                  <a:srgbClr val="FFFFFF"/>
                </a:solidFill>
              </a:rPr>
              <a:t>ponta</a:t>
            </a:r>
            <a:r>
              <a:rPr sz="900" b="0" i="0" dirty="0">
                <a:solidFill>
                  <a:srgbClr val="FFFFFF"/>
                </a:solidFill>
              </a:rPr>
              <a:t>
</a:t>
            </a:r>
            <a:r>
              <a:rPr sz="900" b="0" i="0" dirty="0" err="1">
                <a:solidFill>
                  <a:srgbClr val="FFFFFF"/>
                </a:solidFill>
              </a:rPr>
              <a:t>funcional</a:t>
            </a:r>
            <a:r>
              <a:rPr sz="900" b="0" i="0" dirty="0">
                <a:solidFill>
                  <a:srgbClr val="FFFFFF"/>
                </a:solidFill>
              </a:rPr>
              <a:t> </a:t>
            </a:r>
            <a:endParaRPr lang="pt-BR" sz="900" b="0" i="0" dirty="0" smtClean="0">
              <a:solidFill>
                <a:srgbClr val="FFFFFF"/>
              </a:solidFill>
            </a:endParaRPr>
          </a:p>
          <a:p>
            <a:pPr algn="ctr"/>
            <a:r>
              <a:rPr sz="800" b="0" i="1" dirty="0" smtClean="0">
                <a:solidFill>
                  <a:srgbClr val="FFFFFF"/>
                </a:solidFill>
              </a:rPr>
              <a:t> </a:t>
            </a:r>
            <a:r>
              <a:rPr sz="800" b="0" i="1" dirty="0">
                <a:solidFill>
                  <a:srgbClr val="FFFFFF"/>
                </a:solidFill>
              </a:rPr>
              <a:t>End-to-end
pipeline functional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26060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O que foi observado | What was observed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2971800"/>
            <a:ext cx="557784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dirty="0">
                <a:solidFill>
                  <a:srgbClr val="1C1C1C"/>
                </a:solidFill>
              </a:rPr>
              <a:t>▸  Smoke test com </a:t>
            </a:r>
            <a:r>
              <a:rPr sz="1000" dirty="0" err="1">
                <a:solidFill>
                  <a:srgbClr val="1C1C1C"/>
                </a:solidFill>
              </a:rPr>
              <a:t>documento</a:t>
            </a:r>
            <a:r>
              <a:rPr sz="1000" dirty="0">
                <a:solidFill>
                  <a:srgbClr val="1C1C1C"/>
                </a:solidFill>
              </a:rPr>
              <a:t> M5D real: </a:t>
            </a:r>
            <a:r>
              <a:rPr sz="1000" dirty="0" err="1">
                <a:solidFill>
                  <a:srgbClr val="1C1C1C"/>
                </a:solidFill>
              </a:rPr>
              <a:t>parse_failed</a:t>
            </a:r>
            <a:r>
              <a:rPr sz="1000" dirty="0">
                <a:solidFill>
                  <a:srgbClr val="1C1C1C"/>
                </a:solidFill>
              </a:rPr>
              <a:t>=True (score </a:t>
            </a:r>
            <a:r>
              <a:rPr sz="1000" dirty="0" err="1">
                <a:solidFill>
                  <a:srgbClr val="1C1C1C"/>
                </a:solidFill>
              </a:rPr>
              <a:t>não</a:t>
            </a:r>
            <a:r>
              <a:rPr sz="1000" dirty="0">
                <a:solidFill>
                  <a:srgbClr val="1C1C1C"/>
                </a:solidFill>
              </a:rPr>
              <a:t> </a:t>
            </a:r>
            <a:r>
              <a:rPr sz="1000" dirty="0" err="1">
                <a:solidFill>
                  <a:srgbClr val="1C1C1C"/>
                </a:solidFill>
              </a:rPr>
              <a:t>produzido</a:t>
            </a:r>
            <a:r>
              <a:rPr sz="1000" dirty="0">
                <a:solidFill>
                  <a:srgbClr val="1C1C1C"/>
                </a:solidFill>
              </a:rPr>
              <a:t>)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1C1C1C"/>
                </a:solidFill>
              </a:rPr>
              <a:t>▸  Causa: 57.000 chars de </a:t>
            </a:r>
            <a:r>
              <a:rPr sz="1000" dirty="0" err="1">
                <a:solidFill>
                  <a:srgbClr val="1C1C1C"/>
                </a:solidFill>
              </a:rPr>
              <a:t>evidência</a:t>
            </a:r>
            <a:r>
              <a:rPr sz="1000" dirty="0">
                <a:solidFill>
                  <a:srgbClr val="1C1C1C"/>
                </a:solidFill>
              </a:rPr>
              <a:t> → </a:t>
            </a:r>
            <a:r>
              <a:rPr sz="1000" dirty="0" err="1">
                <a:solidFill>
                  <a:srgbClr val="1C1C1C"/>
                </a:solidFill>
              </a:rPr>
              <a:t>janela</a:t>
            </a:r>
            <a:r>
              <a:rPr sz="1000" dirty="0">
                <a:solidFill>
                  <a:srgbClr val="1C1C1C"/>
                </a:solidFill>
              </a:rPr>
              <a:t> de </a:t>
            </a:r>
            <a:r>
              <a:rPr sz="1000" dirty="0" err="1">
                <a:solidFill>
                  <a:srgbClr val="1C1C1C"/>
                </a:solidFill>
              </a:rPr>
              <a:t>contexto</a:t>
            </a:r>
            <a:r>
              <a:rPr sz="1000" dirty="0">
                <a:solidFill>
                  <a:srgbClr val="1C1C1C"/>
                </a:solidFill>
              </a:rPr>
              <a:t> </a:t>
            </a:r>
            <a:r>
              <a:rPr sz="1000" dirty="0" err="1">
                <a:solidFill>
                  <a:srgbClr val="1C1C1C"/>
                </a:solidFill>
              </a:rPr>
              <a:t>Ollama</a:t>
            </a:r>
            <a:r>
              <a:rPr sz="1000" dirty="0">
                <a:solidFill>
                  <a:srgbClr val="1C1C1C"/>
                </a:solidFill>
              </a:rPr>
              <a:t> </a:t>
            </a:r>
            <a:r>
              <a:rPr sz="1000" dirty="0" err="1">
                <a:solidFill>
                  <a:srgbClr val="1C1C1C"/>
                </a:solidFill>
              </a:rPr>
              <a:t>esgotada</a:t>
            </a:r>
            <a:endParaRPr sz="10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1C1C1C"/>
                </a:solidFill>
              </a:rPr>
              <a:t>▸  </a:t>
            </a:r>
            <a:r>
              <a:rPr sz="1000" dirty="0" err="1">
                <a:solidFill>
                  <a:srgbClr val="1C1C1C"/>
                </a:solidFill>
              </a:rPr>
              <a:t>Correção</a:t>
            </a:r>
            <a:r>
              <a:rPr sz="1000" dirty="0">
                <a:solidFill>
                  <a:srgbClr val="1C1C1C"/>
                </a:solidFill>
              </a:rPr>
              <a:t>: </a:t>
            </a:r>
            <a:r>
              <a:rPr sz="1000" dirty="0" err="1">
                <a:solidFill>
                  <a:srgbClr val="1C1C1C"/>
                </a:solidFill>
              </a:rPr>
              <a:t>num_ctx</a:t>
            </a:r>
            <a:r>
              <a:rPr sz="1000" dirty="0">
                <a:solidFill>
                  <a:srgbClr val="1C1C1C"/>
                </a:solidFill>
              </a:rPr>
              <a:t>=32768 + cap de 20k chars com </a:t>
            </a:r>
            <a:r>
              <a:rPr sz="1000" dirty="0" err="1">
                <a:solidFill>
                  <a:srgbClr val="1C1C1C"/>
                </a:solidFill>
              </a:rPr>
              <a:t>prioridade</a:t>
            </a:r>
            <a:r>
              <a:rPr sz="1000" dirty="0">
                <a:solidFill>
                  <a:srgbClr val="1C1C1C"/>
                </a:solidFill>
              </a:rPr>
              <a:t> de </a:t>
            </a:r>
            <a:r>
              <a:rPr sz="1000" dirty="0" err="1">
                <a:solidFill>
                  <a:srgbClr val="1C1C1C"/>
                </a:solidFill>
              </a:rPr>
              <a:t>cascata</a:t>
            </a:r>
            <a:endParaRPr sz="10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1C1C1C"/>
                </a:solidFill>
              </a:rPr>
              <a:t>▸  Fix A1: BM25 </a:t>
            </a:r>
            <a:r>
              <a:rPr sz="1000" dirty="0" err="1">
                <a:solidFill>
                  <a:srgbClr val="1C1C1C"/>
                </a:solidFill>
              </a:rPr>
              <a:t>ignorava</a:t>
            </a:r>
            <a:r>
              <a:rPr sz="1000" dirty="0">
                <a:solidFill>
                  <a:srgbClr val="1C1C1C"/>
                </a:solidFill>
              </a:rPr>
              <a:t> 25 </a:t>
            </a:r>
            <a:r>
              <a:rPr sz="1000" dirty="0" err="1">
                <a:solidFill>
                  <a:srgbClr val="1C1C1C"/>
                </a:solidFill>
              </a:rPr>
              <a:t>termos</a:t>
            </a:r>
            <a:r>
              <a:rPr sz="1000" dirty="0">
                <a:solidFill>
                  <a:srgbClr val="1C1C1C"/>
                </a:solidFill>
              </a:rPr>
              <a:t> </a:t>
            </a:r>
            <a:r>
              <a:rPr sz="1000" dirty="0" err="1">
                <a:solidFill>
                  <a:srgbClr val="1C1C1C"/>
                </a:solidFill>
              </a:rPr>
              <a:t>curados</a:t>
            </a:r>
            <a:r>
              <a:rPr sz="1000" dirty="0">
                <a:solidFill>
                  <a:srgbClr val="1C1C1C"/>
                </a:solidFill>
              </a:rPr>
              <a:t> do Rio Manual → </a:t>
            </a:r>
            <a:r>
              <a:rPr sz="1000" dirty="0" err="1">
                <a:solidFill>
                  <a:srgbClr val="1C1C1C"/>
                </a:solidFill>
              </a:rPr>
              <a:t>corrigido</a:t>
            </a:r>
            <a:endParaRPr sz="10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000" dirty="0" smtClean="0">
                <a:solidFill>
                  <a:srgbClr val="1C1C1C"/>
                </a:solidFill>
              </a:rPr>
              <a:t>──────────────────────────────────────────────────────────────────</a:t>
            </a:r>
            <a:endParaRPr sz="10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1C1C1C"/>
                </a:solidFill>
              </a:rPr>
              <a:t>▸  Smoke test with real M5D document: </a:t>
            </a:r>
            <a:r>
              <a:rPr sz="1000" dirty="0" err="1">
                <a:solidFill>
                  <a:srgbClr val="1C1C1C"/>
                </a:solidFill>
              </a:rPr>
              <a:t>parse_failed</a:t>
            </a:r>
            <a:r>
              <a:rPr sz="1000" dirty="0">
                <a:solidFill>
                  <a:srgbClr val="1C1C1C"/>
                </a:solidFill>
              </a:rPr>
              <a:t>=True (score not produced)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1C1C1C"/>
                </a:solidFill>
              </a:rPr>
              <a:t>▸  Cause: 57,000 chars evidence → </a:t>
            </a:r>
            <a:r>
              <a:rPr sz="1000" dirty="0" err="1">
                <a:solidFill>
                  <a:srgbClr val="1C1C1C"/>
                </a:solidFill>
              </a:rPr>
              <a:t>Ollama</a:t>
            </a:r>
            <a:r>
              <a:rPr sz="1000" dirty="0">
                <a:solidFill>
                  <a:srgbClr val="1C1C1C"/>
                </a:solidFill>
              </a:rPr>
              <a:t> context window exhausted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1C1C1C"/>
                </a:solidFill>
              </a:rPr>
              <a:t>▸  Fix: </a:t>
            </a:r>
            <a:r>
              <a:rPr sz="1000" dirty="0" err="1">
                <a:solidFill>
                  <a:srgbClr val="1C1C1C"/>
                </a:solidFill>
              </a:rPr>
              <a:t>num_ctx</a:t>
            </a:r>
            <a:r>
              <a:rPr sz="1000" dirty="0">
                <a:solidFill>
                  <a:srgbClr val="1C1C1C"/>
                </a:solidFill>
              </a:rPr>
              <a:t>=32768 + 20k char cap with cascade priority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1C1C1C"/>
                </a:solidFill>
              </a:rPr>
              <a:t>▸  Fix A1: BM25 was ignoring 25 curated Rio Manual terms → corrected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6060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Limitações atuais | Current limitations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576072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dirty="0">
                <a:solidFill>
                  <a:srgbClr val="1C1C1C"/>
                </a:solidFill>
              </a:rPr>
              <a:t>▸  </a:t>
            </a:r>
            <a:r>
              <a:rPr sz="1000" dirty="0" err="1">
                <a:solidFill>
                  <a:srgbClr val="1C1C1C"/>
                </a:solidFill>
              </a:rPr>
              <a:t>Escopo</a:t>
            </a:r>
            <a:r>
              <a:rPr sz="1000" dirty="0">
                <a:solidFill>
                  <a:srgbClr val="1C1C1C"/>
                </a:solidFill>
              </a:rPr>
              <a:t>: </a:t>
            </a:r>
            <a:r>
              <a:rPr sz="1000" dirty="0" err="1">
                <a:solidFill>
                  <a:srgbClr val="1C1C1C"/>
                </a:solidFill>
              </a:rPr>
              <a:t>Ação</a:t>
            </a:r>
            <a:r>
              <a:rPr sz="1000" dirty="0">
                <a:solidFill>
                  <a:srgbClr val="1C1C1C"/>
                </a:solidFill>
              </a:rPr>
              <a:t> 1 </a:t>
            </a:r>
            <a:r>
              <a:rPr sz="1000" dirty="0" err="1">
                <a:solidFill>
                  <a:srgbClr val="1C1C1C"/>
                </a:solidFill>
              </a:rPr>
              <a:t>apenas</a:t>
            </a:r>
            <a:r>
              <a:rPr sz="1000" dirty="0">
                <a:solidFill>
                  <a:srgbClr val="1C1C1C"/>
                </a:solidFill>
              </a:rPr>
              <a:t> (45 </a:t>
            </a:r>
            <a:r>
              <a:rPr sz="1000" dirty="0" err="1">
                <a:solidFill>
                  <a:srgbClr val="1C1C1C"/>
                </a:solidFill>
              </a:rPr>
              <a:t>ações</a:t>
            </a:r>
            <a:r>
              <a:rPr sz="1000" dirty="0">
                <a:solidFill>
                  <a:srgbClr val="1C1C1C"/>
                </a:solidFill>
              </a:rPr>
              <a:t> </a:t>
            </a:r>
            <a:r>
              <a:rPr sz="1000" dirty="0" err="1">
                <a:solidFill>
                  <a:srgbClr val="1C1C1C"/>
                </a:solidFill>
              </a:rPr>
              <a:t>pendentes</a:t>
            </a:r>
            <a:r>
              <a:rPr sz="1000" dirty="0">
                <a:solidFill>
                  <a:srgbClr val="1C1C1C"/>
                </a:solidFill>
              </a:rPr>
              <a:t>)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1C1C1C"/>
                </a:solidFill>
              </a:rPr>
              <a:t>▸  </a:t>
            </a:r>
            <a:r>
              <a:rPr sz="1000" dirty="0" err="1">
                <a:solidFill>
                  <a:srgbClr val="1C1C1C"/>
                </a:solidFill>
              </a:rPr>
              <a:t>Modelo</a:t>
            </a:r>
            <a:r>
              <a:rPr sz="1000" dirty="0">
                <a:solidFill>
                  <a:srgbClr val="1C1C1C"/>
                </a:solidFill>
              </a:rPr>
              <a:t>: </a:t>
            </a:r>
            <a:r>
              <a:rPr sz="1000" dirty="0" err="1">
                <a:solidFill>
                  <a:srgbClr val="1C1C1C"/>
                </a:solidFill>
              </a:rPr>
              <a:t>apenas</a:t>
            </a:r>
            <a:r>
              <a:rPr sz="1000" dirty="0">
                <a:solidFill>
                  <a:srgbClr val="1C1C1C"/>
                </a:solidFill>
              </a:rPr>
              <a:t> Mistral (</a:t>
            </a:r>
            <a:r>
              <a:rPr sz="1000" dirty="0" err="1">
                <a:solidFill>
                  <a:srgbClr val="1C1C1C"/>
                </a:solidFill>
              </a:rPr>
              <a:t>Ollama</a:t>
            </a:r>
            <a:r>
              <a:rPr sz="1000" dirty="0">
                <a:solidFill>
                  <a:srgbClr val="1C1C1C"/>
                </a:solidFill>
              </a:rPr>
              <a:t>); </a:t>
            </a:r>
            <a:r>
              <a:rPr sz="1000" dirty="0" err="1">
                <a:solidFill>
                  <a:srgbClr val="1C1C1C"/>
                </a:solidFill>
              </a:rPr>
              <a:t>sem</a:t>
            </a:r>
            <a:r>
              <a:rPr sz="1000" dirty="0">
                <a:solidFill>
                  <a:srgbClr val="1C1C1C"/>
                </a:solidFill>
              </a:rPr>
              <a:t> </a:t>
            </a:r>
            <a:r>
              <a:rPr sz="1000" dirty="0" err="1">
                <a:solidFill>
                  <a:srgbClr val="1C1C1C"/>
                </a:solidFill>
              </a:rPr>
              <a:t>comparação</a:t>
            </a:r>
            <a:endParaRPr sz="10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1C1C1C"/>
                </a:solidFill>
              </a:rPr>
              <a:t>▸  </a:t>
            </a:r>
            <a:r>
              <a:rPr sz="1000" dirty="0" err="1">
                <a:solidFill>
                  <a:srgbClr val="1C1C1C"/>
                </a:solidFill>
              </a:rPr>
              <a:t>Validação</a:t>
            </a:r>
            <a:r>
              <a:rPr sz="1000" dirty="0">
                <a:solidFill>
                  <a:srgbClr val="1C1C1C"/>
                </a:solidFill>
              </a:rPr>
              <a:t>: corpus </a:t>
            </a:r>
            <a:r>
              <a:rPr sz="1000" dirty="0" err="1">
                <a:solidFill>
                  <a:srgbClr val="1C1C1C"/>
                </a:solidFill>
              </a:rPr>
              <a:t>sintético</a:t>
            </a:r>
            <a:r>
              <a:rPr sz="1000" dirty="0">
                <a:solidFill>
                  <a:srgbClr val="1C1C1C"/>
                </a:solidFill>
              </a:rPr>
              <a:t> </a:t>
            </a:r>
            <a:r>
              <a:rPr sz="1000" dirty="0" err="1">
                <a:solidFill>
                  <a:srgbClr val="1C1C1C"/>
                </a:solidFill>
              </a:rPr>
              <a:t>apenas</a:t>
            </a:r>
            <a:r>
              <a:rPr sz="1000" dirty="0">
                <a:solidFill>
                  <a:srgbClr val="1C1C1C"/>
                </a:solidFill>
              </a:rPr>
              <a:t>; </a:t>
            </a:r>
            <a:r>
              <a:rPr sz="1000" dirty="0" err="1" smtClean="0">
                <a:solidFill>
                  <a:srgbClr val="1C1C1C"/>
                </a:solidFill>
              </a:rPr>
              <a:t>pendente</a:t>
            </a:r>
            <a:r>
              <a:rPr lang="pt-BR" sz="1000" dirty="0" smtClean="0">
                <a:solidFill>
                  <a:srgbClr val="1C1C1C"/>
                </a:solidFill>
              </a:rPr>
              <a:t> </a:t>
            </a:r>
            <a:r>
              <a:rPr lang="pt-BR" sz="1000" dirty="0" err="1" smtClean="0">
                <a:solidFill>
                  <a:srgbClr val="1C1C1C"/>
                </a:solidFill>
              </a:rPr>
              <a:t>tests</a:t>
            </a:r>
            <a:r>
              <a:rPr lang="pt-BR" sz="1000" dirty="0" smtClean="0">
                <a:solidFill>
                  <a:srgbClr val="1C1C1C"/>
                </a:solidFill>
              </a:rPr>
              <a:t> mundo real</a:t>
            </a:r>
            <a:endParaRPr sz="10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1C1C1C"/>
                </a:solidFill>
              </a:rPr>
              <a:t>▸  Frontend </a:t>
            </a:r>
            <a:r>
              <a:rPr sz="1000" dirty="0" err="1">
                <a:solidFill>
                  <a:srgbClr val="1C1C1C"/>
                </a:solidFill>
              </a:rPr>
              <a:t>funcional</a:t>
            </a:r>
            <a:r>
              <a:rPr sz="1000" dirty="0">
                <a:solidFill>
                  <a:srgbClr val="1C1C1C"/>
                </a:solidFill>
              </a:rPr>
              <a:t>, </a:t>
            </a:r>
            <a:r>
              <a:rPr sz="1000" dirty="0" err="1">
                <a:solidFill>
                  <a:srgbClr val="1C1C1C"/>
                </a:solidFill>
              </a:rPr>
              <a:t>não</a:t>
            </a:r>
            <a:r>
              <a:rPr sz="1000" dirty="0">
                <a:solidFill>
                  <a:srgbClr val="1C1C1C"/>
                </a:solidFill>
              </a:rPr>
              <a:t> </a:t>
            </a:r>
            <a:r>
              <a:rPr sz="1000" dirty="0" err="1">
                <a:solidFill>
                  <a:srgbClr val="1C1C1C"/>
                </a:solidFill>
              </a:rPr>
              <a:t>validado</a:t>
            </a:r>
            <a:r>
              <a:rPr sz="1000" dirty="0">
                <a:solidFill>
                  <a:srgbClr val="1C1C1C"/>
                </a:solidFill>
              </a:rPr>
              <a:t> com </a:t>
            </a:r>
            <a:r>
              <a:rPr sz="1000" dirty="0" err="1">
                <a:solidFill>
                  <a:srgbClr val="1C1C1C"/>
                </a:solidFill>
              </a:rPr>
              <a:t>usuários</a:t>
            </a:r>
            <a:r>
              <a:rPr sz="1000" dirty="0">
                <a:solidFill>
                  <a:srgbClr val="1C1C1C"/>
                </a:solidFill>
              </a:rPr>
              <a:t> </a:t>
            </a:r>
            <a:r>
              <a:rPr sz="1000" dirty="0" err="1">
                <a:solidFill>
                  <a:srgbClr val="1C1C1C"/>
                </a:solidFill>
              </a:rPr>
              <a:t>reais</a:t>
            </a:r>
            <a:endParaRPr sz="10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000" dirty="0" smtClean="0">
                <a:solidFill>
                  <a:srgbClr val="1C1C1C"/>
                </a:solidFill>
              </a:rPr>
              <a:t>──────────────────────────────────────────────────</a:t>
            </a:r>
            <a:endParaRPr sz="1000" dirty="0">
              <a:solidFill>
                <a:srgbClr val="1C1C1C"/>
              </a:solidFill>
            </a:endParaRP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1C1C1C"/>
                </a:solidFill>
              </a:rPr>
              <a:t>▸  Scope: Action 1 only (45 actions pending)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1C1C1C"/>
                </a:solidFill>
              </a:rPr>
              <a:t>▸  Model: Mistral (</a:t>
            </a:r>
            <a:r>
              <a:rPr sz="1000" dirty="0" err="1">
                <a:solidFill>
                  <a:srgbClr val="1C1C1C"/>
                </a:solidFill>
              </a:rPr>
              <a:t>Ollama</a:t>
            </a:r>
            <a:r>
              <a:rPr sz="1000" dirty="0">
                <a:solidFill>
                  <a:srgbClr val="1C1C1C"/>
                </a:solidFill>
              </a:rPr>
              <a:t>) only; no comparison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1C1C1C"/>
                </a:solidFill>
              </a:rPr>
              <a:t>▸  Validation: synthetic corpus only; real-world pending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1C1C1C"/>
                </a:solidFill>
              </a:rPr>
              <a:t>▸  Frontend functional, not validated with real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6  Estado Atual | Current State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Cadeia de Raciocínio — Confiança por Estágio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</a:rPr>
              <a:t>Reasoning Chain — Confidence per 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2651760" cy="5212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651760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" y="1307592"/>
            <a:ext cx="24688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</a:rPr>
              <a:t>Estágio</a:t>
            </a:r>
            <a:r>
              <a:rPr sz="1300" b="1" i="0" dirty="0">
                <a:solidFill>
                  <a:srgbClr val="FFFFFF"/>
                </a:solidFill>
              </a:rPr>
              <a:t> 1
</a:t>
            </a:r>
            <a:r>
              <a:rPr lang="pt-BR" sz="1300" b="1" i="0" dirty="0" smtClean="0">
                <a:solidFill>
                  <a:srgbClr val="FFFFFF"/>
                </a:solidFill>
              </a:rPr>
              <a:t>Recuperação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9768" y="16733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4F7"/>
                </a:solidFill>
              </a:rPr>
              <a:t>Stage 1
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14884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BM25 + hints Rio Manual
funciona no corpus controlado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383280"/>
            <a:ext cx="1164031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" y="347472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6DA4"/>
                </a:solidFill>
              </a:rPr>
              <a:t>BM25 + Rio Manual hints
works on controlled corpus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4800600"/>
            <a:ext cx="2423160" cy="13716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" y="512064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MÉDIA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234440"/>
            <a:ext cx="2651760" cy="5212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0" y="1234440"/>
            <a:ext cx="2651760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10128" y="1307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Estágio 2
Cobertura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16733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4F7"/>
                </a:solidFill>
              </a:rPr>
              <a:t>Stage 2
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14884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Corpus sintético cobre 1a–1d explicitamente;
documentos reais são implícitos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83280"/>
            <a:ext cx="1164031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10128" y="347472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6DA4"/>
                </a:solidFill>
              </a:rPr>
              <a:t>Synthetic corpus covers 1a–1d explicitly;
real documents use implicit language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4800600"/>
            <a:ext cx="2423160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10128" y="512064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BAIXA
para docs reais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1234440"/>
            <a:ext cx="2651760" cy="5212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80760" y="1234440"/>
            <a:ext cx="2651760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90488" y="1307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Estágio 3
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16733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4F7"/>
                </a:solidFill>
              </a:rPr>
              <a:t>Stage 3
Prompt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214884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Raciocínio correto em Score3 e Score1;
casos ambíguos não testados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383280"/>
            <a:ext cx="1164031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90488" y="347472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6DA4"/>
                </a:solidFill>
              </a:rPr>
              <a:t>Correct reasoning on Score3 and Score1;
ambiguous cases not tested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4800600"/>
            <a:ext cx="2423160" cy="13716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90488" y="512064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MÉDIA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1234440"/>
            <a:ext cx="2651760" cy="5212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961120" y="1234440"/>
            <a:ext cx="2651760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70848" y="1307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Estágio 4
Modelo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0848" y="16733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4F7"/>
                </a:solidFill>
              </a:rPr>
              <a:t>Stage 4
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848" y="214884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Apenas Mistral testado;
comparação com outros modelos pendente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383280"/>
            <a:ext cx="1164031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70848" y="347472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6DA4"/>
                </a:solidFill>
              </a:rPr>
              <a:t>Only Mistral tested;
comparison with other models pending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70848" y="4800600"/>
            <a:ext cx="2423160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70848" y="512064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DESCONHECIDA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7  Validação | Validation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Roteiro de Melhoria — Dirigido por Lacunas de Confiança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E4F7"/>
                </a:solidFill>
              </a:rPr>
              <a:t>Improvement Roadmap — Driven by Confidence Gaps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566160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566160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02B"/>
                </a:solidFill>
              </a:rPr>
              <a:t>Phase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5722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</a:rPr>
              <a:t>Validação</a:t>
            </a:r>
            <a:r>
              <a:rPr sz="1300" b="1" i="0" dirty="0">
                <a:solidFill>
                  <a:srgbClr val="FFFFFF"/>
                </a:solidFill>
              </a:rPr>
              <a:t> da </a:t>
            </a:r>
            <a:r>
              <a:rPr sz="1300" b="1" i="0" dirty="0" err="1">
                <a:solidFill>
                  <a:srgbClr val="FFFFFF"/>
                </a:solidFill>
              </a:rPr>
              <a:t>cadeia</a:t>
            </a:r>
            <a:r>
              <a:rPr sz="1300" b="1" i="0" dirty="0">
                <a:solidFill>
                  <a:srgbClr val="FFFFFF"/>
                </a:solidFill>
              </a:rPr>
              <a:t>
de </a:t>
            </a:r>
            <a:r>
              <a:rPr sz="1300" b="1" i="0" dirty="0" err="1">
                <a:solidFill>
                  <a:srgbClr val="FFFFFF"/>
                </a:solidFill>
              </a:rPr>
              <a:t>raciocínio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9768" y="19385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4F7"/>
                </a:solidFill>
              </a:rPr>
              <a:t>Reasoning chain
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359152"/>
            <a:ext cx="338328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▸  A1 Fix BM25 + Rio Manual hints  ✓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▸  A2 Corpus </a:t>
            </a:r>
            <a:r>
              <a:rPr sz="1100" dirty="0" err="1">
                <a:solidFill>
                  <a:srgbClr val="1C1C1C"/>
                </a:solidFill>
              </a:rPr>
              <a:t>sintético</a:t>
            </a:r>
            <a:r>
              <a:rPr sz="1100" dirty="0">
                <a:solidFill>
                  <a:srgbClr val="1C1C1C"/>
                </a:solidFill>
              </a:rPr>
              <a:t>  ✓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▸  A3 Retrieval quality  ✓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C1C1C"/>
                </a:solidFill>
              </a:rPr>
              <a:t>▸  A4 Prompt quality  </a:t>
            </a:r>
            <a:r>
              <a:rPr sz="1100" dirty="0" smtClean="0">
                <a:solidFill>
                  <a:srgbClr val="1C1C1C"/>
                </a:solidFill>
              </a:rPr>
              <a:t>✓</a:t>
            </a:r>
            <a:endParaRPr sz="1100" dirty="0">
              <a:solidFill>
                <a:srgbClr val="1C1C1C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9768" y="5394960"/>
            <a:ext cx="3337560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" y="550468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Jun 2026  |  CONCLUÍDA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1188720"/>
            <a:ext cx="3566160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24528" y="1188720"/>
            <a:ext cx="3566160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34256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02B"/>
                </a:solidFill>
              </a:rPr>
              <a:t>Phase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1396" y="15722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</a:rPr>
              <a:t>Validação</a:t>
            </a:r>
            <a:r>
              <a:rPr sz="1300" b="1" i="0" dirty="0">
                <a:solidFill>
                  <a:srgbClr val="FFFFFF"/>
                </a:solidFill>
              </a:rPr>
              <a:t> com
</a:t>
            </a:r>
            <a:r>
              <a:rPr sz="1300" b="1" i="0" dirty="0" err="1">
                <a:solidFill>
                  <a:srgbClr val="FFFFFF"/>
                </a:solidFill>
              </a:rPr>
              <a:t>documento</a:t>
            </a:r>
            <a:r>
              <a:rPr sz="1300" b="1" i="0" dirty="0">
                <a:solidFill>
                  <a:srgbClr val="FFFFFF"/>
                </a:solidFill>
              </a:rPr>
              <a:t> real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19385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4F7"/>
                </a:solidFill>
              </a:rPr>
              <a:t>Real-document
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6" y="2359152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▸  B1 Obter processo PPP completo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▸  B2 Avaliar Ação 1 no real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▸  B3 Revisão do auditor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▸  B4 Comparação de modelos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34256" y="5394960"/>
            <a:ext cx="3337560" cy="6858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34256" y="5504688"/>
            <a:ext cx="3337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0" dirty="0" err="1" smtClean="0">
                <a:solidFill>
                  <a:srgbClr val="FFFFFF"/>
                </a:solidFill>
              </a:rPr>
              <a:t>Aug</a:t>
            </a:r>
            <a:r>
              <a:rPr sz="1100" b="1" i="0" dirty="0" smtClean="0">
                <a:solidFill>
                  <a:srgbClr val="FFFFFF"/>
                </a:solidFill>
              </a:rPr>
              <a:t> </a:t>
            </a:r>
            <a:r>
              <a:rPr sz="1100" b="1" i="0" dirty="0">
                <a:solidFill>
                  <a:srgbClr val="FFFFFF"/>
                </a:solidFill>
              </a:rPr>
              <a:t>2026  |  </a:t>
            </a:r>
            <a:r>
              <a:rPr sz="1100" b="1" i="0" dirty="0" err="1">
                <a:solidFill>
                  <a:srgbClr val="FFFFFF"/>
                </a:solidFill>
              </a:rPr>
              <a:t>Pendente</a:t>
            </a:r>
            <a:endParaRPr sz="1100" b="1" i="0" dirty="0">
              <a:solidFill>
                <a:srgbClr val="FFFFFF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129016" y="1188720"/>
            <a:ext cx="3566160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29016" y="1188720"/>
            <a:ext cx="3566160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38744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02B"/>
                </a:solidFill>
              </a:rPr>
              <a:t>Phase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8744" y="15722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</a:rPr>
              <a:t>Backlog de
</a:t>
            </a:r>
            <a:r>
              <a:rPr sz="1300" b="1" i="0" dirty="0" err="1">
                <a:solidFill>
                  <a:srgbClr val="FFFFFF"/>
                </a:solidFill>
              </a:rPr>
              <a:t>melhoria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38744" y="19385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4F7"/>
                </a:solidFill>
              </a:rPr>
              <a:t>Improvement
backlog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2359152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▸  Extensão: 45 ações restantes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▸  Validação frontend c/ usuários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▸  Benchmarks de performance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▸  Consistência entre avaliações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38744" y="5394960"/>
            <a:ext cx="3337560" cy="6858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38744" y="550468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Não agendado  |  Após Phase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8  Roteiro | Roadmap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6172200" y="2423160"/>
            <a:ext cx="265176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98280" y="2423160"/>
            <a:ext cx="265176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Próximos Passos |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1521440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Questão central: a cadeia de raciocínio é defensável com documentos reais?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190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0E4F7"/>
                </a:solidFill>
              </a:rPr>
              <a:t>Central question: is the reasoning chain defensible with real documents?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423160"/>
            <a:ext cx="265176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423160"/>
            <a:ext cx="502920" cy="3474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2" y="37947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060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Obter processo PPP real completo
Obtain a complete real PPP process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492724"/>
            <a:ext cx="1164031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920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 err="1">
                <a:solidFill>
                  <a:srgbClr val="2E6DA4"/>
                </a:solidFill>
              </a:rPr>
              <a:t>Acesso</a:t>
            </a:r>
            <a:r>
              <a:rPr sz="1000" b="0" i="1" dirty="0">
                <a:solidFill>
                  <a:srgbClr val="2E6DA4"/>
                </a:solidFill>
              </a:rPr>
              <a:t> </a:t>
            </a:r>
            <a:r>
              <a:rPr sz="1000" b="0" i="1" dirty="0" err="1">
                <a:solidFill>
                  <a:srgbClr val="2E6DA4"/>
                </a:solidFill>
              </a:rPr>
              <a:t>ao</a:t>
            </a:r>
            <a:r>
              <a:rPr sz="1000" b="0" i="1" dirty="0">
                <a:solidFill>
                  <a:srgbClr val="2E6DA4"/>
                </a:solidFill>
              </a:rPr>
              <a:t> </a:t>
            </a:r>
            <a:r>
              <a:rPr lang="pt-BR" sz="1000" b="0" i="1" dirty="0" smtClean="0">
                <a:solidFill>
                  <a:srgbClr val="2E6DA4"/>
                </a:solidFill>
              </a:rPr>
              <a:t>documento</a:t>
            </a:r>
            <a:r>
              <a:rPr sz="1000" b="0" i="1" dirty="0">
                <a:solidFill>
                  <a:srgbClr val="2E6DA4"/>
                </a:solidFill>
              </a:rPr>
              <a:t>
Access to </a:t>
            </a:r>
            <a:r>
              <a:rPr lang="pt-BR" sz="1000" b="0" i="1" dirty="0" err="1" smtClean="0">
                <a:solidFill>
                  <a:srgbClr val="2E6DA4"/>
                </a:solidFill>
              </a:rPr>
              <a:t>the</a:t>
            </a:r>
            <a:r>
              <a:rPr lang="pt-BR" sz="1000" b="0" i="1" dirty="0" smtClean="0">
                <a:solidFill>
                  <a:srgbClr val="2E6DA4"/>
                </a:solidFill>
              </a:rPr>
              <a:t> case </a:t>
            </a:r>
            <a:r>
              <a:rPr lang="pt-BR" sz="1000" b="0" i="1" dirty="0" err="1" smtClean="0">
                <a:solidFill>
                  <a:srgbClr val="2E6DA4"/>
                </a:solidFill>
              </a:rPr>
              <a:t>document</a:t>
            </a:r>
            <a:endParaRPr sz="1000" b="0" i="1" dirty="0">
              <a:solidFill>
                <a:srgbClr val="2E6DA4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46120" y="2423160"/>
            <a:ext cx="265176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46120" y="2423160"/>
            <a:ext cx="502920" cy="3474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19272" y="37947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6060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Avaliar Ação 1 no processo real
Evaluate Action 1 on real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515497"/>
            <a:ext cx="1164031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0" y="411480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6DA4"/>
                </a:solidFill>
              </a:rPr>
              <a:t>Comparar retrieval real vs. sintético
Compare real vs. synthetic retrieval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2423160"/>
            <a:ext cx="502920" cy="3474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45352" y="37947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6060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Revisão do auditor no resultado real
Auditor review of real result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492727"/>
            <a:ext cx="1164031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0" y="411480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 err="1">
                <a:solidFill>
                  <a:srgbClr val="2E6DA4"/>
                </a:solidFill>
              </a:rPr>
              <a:t>Identificar</a:t>
            </a:r>
            <a:r>
              <a:rPr sz="1000" b="0" i="1" dirty="0">
                <a:solidFill>
                  <a:srgbClr val="2E6DA4"/>
                </a:solidFill>
              </a:rPr>
              <a:t> </a:t>
            </a:r>
            <a:r>
              <a:rPr sz="1000" b="0" i="1" dirty="0" err="1">
                <a:solidFill>
                  <a:srgbClr val="2E6DA4"/>
                </a:solidFill>
              </a:rPr>
              <a:t>padrões</a:t>
            </a:r>
            <a:r>
              <a:rPr sz="1000" b="0" i="1" dirty="0">
                <a:solidFill>
                  <a:srgbClr val="2E6DA4"/>
                </a:solidFill>
              </a:rPr>
              <a:t> de </a:t>
            </a:r>
            <a:r>
              <a:rPr sz="1000" b="0" i="1" dirty="0" err="1">
                <a:solidFill>
                  <a:srgbClr val="2E6DA4"/>
                </a:solidFill>
              </a:rPr>
              <a:t>substituição</a:t>
            </a:r>
            <a:r>
              <a:rPr sz="1000" b="0" i="1" dirty="0">
                <a:solidFill>
                  <a:srgbClr val="2E6DA4"/>
                </a:solidFill>
              </a:rPr>
              <a:t>
Identify override patterns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8280" y="2423160"/>
            <a:ext cx="502920" cy="3474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71432" y="37947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606040"/>
            <a:ext cx="1920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smtClean="0">
                <a:solidFill>
                  <a:srgbClr val="1C1C1C"/>
                </a:solidFill>
              </a:rPr>
              <a:t>Compare </a:t>
            </a:r>
            <a:r>
              <a:rPr sz="1200" b="1" i="0" dirty="0">
                <a:solidFill>
                  <a:srgbClr val="1C1C1C"/>
                </a:solidFill>
              </a:rPr>
              <a:t>Mistral vs. </a:t>
            </a:r>
            <a:r>
              <a:rPr sz="1200" b="1" i="0" dirty="0" err="1">
                <a:solidFill>
                  <a:srgbClr val="1C1C1C"/>
                </a:solidFill>
              </a:rPr>
              <a:t>Groq</a:t>
            </a:r>
            <a:endParaRPr sz="1200" b="1" i="0" dirty="0">
              <a:solidFill>
                <a:srgbClr val="1C1C1C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74320" y="5155279"/>
            <a:ext cx="1164031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92640" y="411480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6DA4"/>
                </a:solidFill>
              </a:rPr>
              <a:t>Avaliar consistência e qualidade
Assess consistency and quality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6035040"/>
            <a:ext cx="11521440" cy="594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6108192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err="1">
                <a:solidFill>
                  <a:srgbClr val="FFFFFF"/>
                </a:solidFill>
              </a:rPr>
              <a:t>Repositório</a:t>
            </a:r>
            <a:r>
              <a:rPr sz="1200" b="0" i="0" dirty="0">
                <a:solidFill>
                  <a:srgbClr val="FFFFFF"/>
                </a:solidFill>
              </a:rPr>
              <a:t>: </a:t>
            </a:r>
            <a:r>
              <a:rPr sz="1200" b="0" i="0" dirty="0" smtClean="0">
                <a:solidFill>
                  <a:srgbClr val="FFFFFF"/>
                </a:solidFill>
              </a:rPr>
              <a:t>github.com/</a:t>
            </a:r>
            <a:r>
              <a:rPr sz="1200" b="0" i="0" dirty="0" err="1" smtClean="0">
                <a:solidFill>
                  <a:srgbClr val="FFFFFF"/>
                </a:solidFill>
              </a:rPr>
              <a:t>Sjacuru</a:t>
            </a:r>
            <a:r>
              <a:rPr sz="1200" b="0" i="0" dirty="0" smtClean="0">
                <a:solidFill>
                  <a:srgbClr val="FFFFFF"/>
                </a:solidFill>
              </a:rPr>
              <a:t>/</a:t>
            </a:r>
            <a:r>
              <a:rPr sz="1200" b="0" i="0" dirty="0" err="1" smtClean="0">
                <a:solidFill>
                  <a:srgbClr val="FFFFFF"/>
                </a:solidFill>
              </a:rPr>
              <a:t>Maturity_Check</a:t>
            </a:r>
            <a:endParaRPr sz="1200" b="0" i="0" dirty="0">
              <a:solidFill>
                <a:srgbClr val="FFFFFF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8  Roteiro | Roadmap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1527</Words>
  <Application>Microsoft Office PowerPoint</Application>
  <PresentationFormat>Personalizar</PresentationFormat>
  <Paragraphs>358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Salim Jacuru Anseri</cp:lastModifiedBy>
  <cp:revision>10</cp:revision>
  <dcterms:created xsi:type="dcterms:W3CDTF">2013-01-27T09:14:16Z</dcterms:created>
  <dcterms:modified xsi:type="dcterms:W3CDTF">2026-06-09T16:01:01Z</dcterms:modified>
  <cp:category/>
</cp:coreProperties>
</file>